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0" r:id="rId3"/>
    <p:sldId id="301" r:id="rId4"/>
    <p:sldId id="303" r:id="rId5"/>
    <p:sldId id="304" r:id="rId6"/>
    <p:sldId id="305" r:id="rId7"/>
    <p:sldId id="293" r:id="rId8"/>
    <p:sldId id="257" r:id="rId9"/>
    <p:sldId id="292" r:id="rId10"/>
    <p:sldId id="258" r:id="rId11"/>
    <p:sldId id="290" r:id="rId12"/>
    <p:sldId id="270" r:id="rId13"/>
    <p:sldId id="296" r:id="rId14"/>
    <p:sldId id="297" r:id="rId15"/>
    <p:sldId id="298" r:id="rId16"/>
    <p:sldId id="299" r:id="rId17"/>
    <p:sldId id="300" r:id="rId18"/>
    <p:sldId id="282" r:id="rId19"/>
    <p:sldId id="271" r:id="rId20"/>
    <p:sldId id="294" r:id="rId21"/>
    <p:sldId id="288" r:id="rId22"/>
    <p:sldId id="274" r:id="rId23"/>
    <p:sldId id="286" r:id="rId24"/>
    <p:sldId id="295" r:id="rId25"/>
    <p:sldId id="291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5434" autoAdjust="0"/>
  </p:normalViewPr>
  <p:slideViewPr>
    <p:cSldViewPr snapToGrid="0">
      <p:cViewPr varScale="1">
        <p:scale>
          <a:sx n="87" d="100"/>
          <a:sy n="87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2963A-DCBB-40FD-96FC-3F93BD76F5A0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31B8A-6A53-4327-BA18-0DA9BAAAE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07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31B8A-6A53-4327-BA18-0DA9BAAAE0F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518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여기서 </a:t>
            </a:r>
            <a:r>
              <a:rPr lang="en-US" altLang="ko-KR" dirty="0" smtClean="0"/>
              <a:t>Description PDF</a:t>
            </a:r>
            <a:r>
              <a:rPr lang="ko-KR" altLang="en-US" dirty="0" smtClean="0"/>
              <a:t>파일 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31B8A-6A53-4327-BA18-0DA9BAAAE0F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325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63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95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06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56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18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70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49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38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7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7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76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3BC85-B781-4BB8-8EF1-2F7C7C7443D7}" type="datetimeFigureOut">
              <a:rPr lang="ko-KR" altLang="en-US" smtClean="0"/>
              <a:t>2019-05-27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86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11853"/>
            <a:ext cx="9144000" cy="2387600"/>
          </a:xfrm>
        </p:spPr>
        <p:txBody>
          <a:bodyPr/>
          <a:lstStyle/>
          <a:p>
            <a:r>
              <a:rPr lang="ko-KR" altLang="en-US" dirty="0" smtClean="0">
                <a:latin typeface="a옛날목욕탕L" panose="02020600000000000000" pitchFamily="18" charset="-127"/>
                <a:ea typeface="a옛날목욕탕L" panose="02020600000000000000"/>
              </a:rPr>
              <a:t>열람실 </a:t>
            </a:r>
            <a:r>
              <a:rPr lang="ko-KR" altLang="en-US" dirty="0" err="1" smtClean="0">
                <a:latin typeface="a옛날목욕탕L" panose="02020600000000000000" pitchFamily="18" charset="-127"/>
                <a:ea typeface="a옛날목욕탕L" panose="02020600000000000000"/>
              </a:rPr>
              <a:t>좌석관리</a:t>
            </a:r>
            <a:r>
              <a:rPr lang="ko-KR" altLang="en-US" dirty="0" smtClean="0">
                <a:latin typeface="a옛날목욕탕L" panose="02020600000000000000" pitchFamily="18" charset="-127"/>
                <a:ea typeface="a옛날목욕탕L" panose="02020600000000000000"/>
              </a:rPr>
              <a:t> 시스템</a:t>
            </a:r>
            <a:endParaRPr lang="ko-KR" altLang="en-US" dirty="0"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5244663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942896" y="5481144"/>
            <a:ext cx="9144000" cy="2099441"/>
          </a:xfrm>
        </p:spPr>
        <p:txBody>
          <a:bodyPr/>
          <a:lstStyle/>
          <a:p>
            <a:pPr algn="r"/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 </a:t>
            </a:r>
            <a:r>
              <a:rPr lang="ko-KR" altLang="en-US" sz="4000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객체지향 분석 및 설계</a:t>
            </a:r>
            <a:endParaRPr lang="en-US" altLang="ko-KR" dirty="0" smtClean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r"/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20142697 </a:t>
            </a:r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권민수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71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목차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759" y="1797269"/>
            <a:ext cx="10436772" cy="416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시스템 소개 </a:t>
            </a: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/ Vision &amp; Scope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Requirements &amp; Scenario</a:t>
            </a:r>
            <a:endParaRPr lang="en-US" altLang="ko-KR" sz="30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Use </a:t>
            </a: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Case </a:t>
            </a: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Diagram</a:t>
            </a:r>
            <a:endParaRPr lang="en-US" altLang="ko-KR" sz="30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Use Case </a:t>
            </a: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Description</a:t>
            </a:r>
            <a:endParaRPr lang="en-US" altLang="ko-KR" sz="30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Class </a:t>
            </a: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Diagram</a:t>
            </a:r>
            <a:endParaRPr lang="en-US" altLang="ko-KR" sz="30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Sequence </a:t>
            </a: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81913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38978" y="1850013"/>
            <a:ext cx="10914044" cy="2387600"/>
          </a:xfrm>
        </p:spPr>
        <p:txBody>
          <a:bodyPr anchor="ctr" anchorCtr="0"/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시스템 소개 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/ Vision &amp; Scope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01172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시스템 소개 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/ Vision &amp; Scope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5071" b="3207"/>
          <a:stretch/>
        </p:blipFill>
        <p:spPr>
          <a:xfrm>
            <a:off x="696656" y="1675385"/>
            <a:ext cx="2639055" cy="497589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26273" t="38383" r="29717" b="39612"/>
          <a:stretch/>
        </p:blipFill>
        <p:spPr>
          <a:xfrm>
            <a:off x="4054120" y="2239218"/>
            <a:ext cx="2839734" cy="2918741"/>
          </a:xfrm>
          <a:prstGeom prst="rect">
            <a:avLst/>
          </a:prstGeom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9367820" y="2239218"/>
            <a:ext cx="2228889" cy="643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8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</a:t>
            </a:r>
            <a:r>
              <a:rPr lang="ko-KR" altLang="en-US" sz="2800" dirty="0" smtClean="0">
                <a:solidFill>
                  <a:srgbClr val="FF0000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사용</a:t>
            </a:r>
            <a:endParaRPr lang="ko-KR" altLang="en-US" sz="2800" dirty="0">
              <a:solidFill>
                <a:srgbClr val="FF0000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9367820" y="3291597"/>
            <a:ext cx="2228889" cy="643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8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</a:t>
            </a:r>
            <a:r>
              <a:rPr lang="ko-KR" altLang="en-US" sz="2800" dirty="0" smtClean="0">
                <a:solidFill>
                  <a:srgbClr val="FF0000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변경</a:t>
            </a:r>
            <a:endParaRPr lang="ko-KR" altLang="en-US" sz="2800" dirty="0">
              <a:solidFill>
                <a:srgbClr val="FF0000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9367820" y="4343976"/>
            <a:ext cx="2228889" cy="643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8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</a:t>
            </a:r>
            <a:r>
              <a:rPr lang="ko-KR" altLang="en-US" sz="2800" dirty="0" smtClean="0">
                <a:solidFill>
                  <a:srgbClr val="FF0000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반납</a:t>
            </a:r>
            <a:endParaRPr lang="ko-KR" altLang="en-US" sz="2800" dirty="0">
              <a:solidFill>
                <a:srgbClr val="FF0000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9367820" y="5396355"/>
            <a:ext cx="2228889" cy="643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8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</a:t>
            </a:r>
            <a:r>
              <a:rPr lang="ko-KR" altLang="en-US" sz="2800" dirty="0" smtClean="0">
                <a:solidFill>
                  <a:srgbClr val="FF0000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연장</a:t>
            </a:r>
            <a:endParaRPr lang="ko-KR" altLang="en-US" sz="2800" dirty="0">
              <a:solidFill>
                <a:srgbClr val="FF0000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3" name="제목 1"/>
          <p:cNvSpPr txBox="1">
            <a:spLocks/>
          </p:cNvSpPr>
          <p:nvPr/>
        </p:nvSpPr>
        <p:spPr>
          <a:xfrm>
            <a:off x="6989003" y="3817787"/>
            <a:ext cx="2228889" cy="643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800" b="1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관리</a:t>
            </a:r>
            <a:endParaRPr lang="ko-KR" altLang="en-US" sz="2800" b="1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14" name="왼쪽 중괄호 13"/>
          <p:cNvSpPr/>
          <p:nvPr/>
        </p:nvSpPr>
        <p:spPr>
          <a:xfrm>
            <a:off x="9177522" y="2477614"/>
            <a:ext cx="230668" cy="3371435"/>
          </a:xfrm>
          <a:prstGeom prst="lef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59542" y="5612694"/>
            <a:ext cx="2228889" cy="643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800" b="1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1</a:t>
            </a:r>
            <a:r>
              <a:rPr lang="ko-KR" altLang="en-US" sz="2800" b="1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인 </a:t>
            </a:r>
            <a:r>
              <a:rPr lang="en-US" altLang="ko-KR" sz="2800" b="1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1</a:t>
            </a:r>
            <a:r>
              <a:rPr lang="ko-KR" altLang="en-US" sz="2800" b="1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</a:t>
            </a:r>
            <a:endParaRPr lang="ko-KR" altLang="en-US" sz="2800" b="1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235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시스템 소개 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/ Vision &amp; Scope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158810"/>
              </p:ext>
            </p:extLst>
          </p:nvPr>
        </p:nvGraphicFramePr>
        <p:xfrm>
          <a:off x="8454019" y="2226725"/>
          <a:ext cx="3475222" cy="16291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5222">
                  <a:extLst>
                    <a:ext uri="{9D8B030D-6E8A-4147-A177-3AD203B41FA5}">
                      <a16:colId xmlns:a16="http://schemas.microsoft.com/office/drawing/2014/main" val="465305652"/>
                    </a:ext>
                  </a:extLst>
                </a:gridCol>
              </a:tblGrid>
              <a:tr h="6359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&lt;&lt; </a:t>
                      </a:r>
                      <a:r>
                        <a:rPr lang="ko-KR" altLang="en-US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좌석이용정보 </a:t>
                      </a: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DB &gt;&gt;</a:t>
                      </a:r>
                      <a:endParaRPr lang="ko-KR" altLang="en-US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982286"/>
                  </a:ext>
                </a:extLst>
              </a:tr>
              <a:tr h="993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열람실 전체의 좌석이용정보를 관리</a:t>
                      </a:r>
                      <a:r>
                        <a:rPr lang="en-US" altLang="ko-KR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,</a:t>
                      </a:r>
                      <a:r>
                        <a:rPr lang="en-US" altLang="ko-KR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</a:t>
                      </a:r>
                      <a:r>
                        <a:rPr lang="en-US" altLang="ko-KR" sz="1800" baseline="0" dirty="0" smtClean="0">
                          <a:solidFill>
                            <a:srgbClr val="FF0000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Concurrency</a:t>
                      </a:r>
                      <a:r>
                        <a:rPr lang="en-US" altLang="ko-KR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</a:t>
                      </a:r>
                      <a:r>
                        <a:rPr lang="ko-KR" altLang="en-US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문제가 없도록 함</a:t>
                      </a:r>
                      <a:endParaRPr lang="en-US" altLang="ko-KR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7856302"/>
                  </a:ext>
                </a:extLst>
              </a:tr>
            </a:tbl>
          </a:graphicData>
        </a:graphic>
      </p:graphicFrame>
      <p:pic>
        <p:nvPicPr>
          <p:cNvPr id="17" name="그림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602" y="2524565"/>
            <a:ext cx="1043396" cy="1043396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758" y="4573950"/>
            <a:ext cx="1137084" cy="1137084"/>
          </a:xfrm>
          <a:prstGeom prst="rect">
            <a:avLst/>
          </a:prstGeom>
        </p:spPr>
      </p:pic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380894"/>
              </p:ext>
            </p:extLst>
          </p:nvPr>
        </p:nvGraphicFramePr>
        <p:xfrm>
          <a:off x="8454019" y="4293088"/>
          <a:ext cx="3475222" cy="1622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5222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6078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&lt;&lt; </a:t>
                      </a:r>
                      <a:r>
                        <a:rPr lang="ko-KR" altLang="en-US" sz="20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학생 정보 인증 시스템</a:t>
                      </a:r>
                      <a:r>
                        <a:rPr lang="en-US" altLang="ko-KR" sz="2000" baseline="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&gt;&gt;</a:t>
                      </a:r>
                      <a:endParaRPr lang="ko-KR" altLang="en-US" sz="32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1015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입력된 학생의 정보</a:t>
                      </a:r>
                      <a:endParaRPr lang="en-US" altLang="ko-KR" sz="18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(QR</a:t>
                      </a:r>
                      <a:r>
                        <a:rPr lang="ko-KR" altLang="en-US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코드 또는 </a:t>
                      </a:r>
                      <a:r>
                        <a:rPr lang="en-US" altLang="ko-KR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ID/PW)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가 맞는지 확인 후 결과 반환</a:t>
                      </a:r>
                      <a:endParaRPr lang="en-US" altLang="ko-KR" sz="18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14700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61761"/>
              </p:ext>
            </p:extLst>
          </p:nvPr>
        </p:nvGraphicFramePr>
        <p:xfrm>
          <a:off x="3206385" y="2667770"/>
          <a:ext cx="2678829" cy="13671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8829">
                  <a:extLst>
                    <a:ext uri="{9D8B030D-6E8A-4147-A177-3AD203B41FA5}">
                      <a16:colId xmlns:a16="http://schemas.microsoft.com/office/drawing/2014/main" val="721142009"/>
                    </a:ext>
                  </a:extLst>
                </a:gridCol>
              </a:tblGrid>
              <a:tr h="13671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열람실 </a:t>
                      </a:r>
                      <a:endParaRPr lang="en-US" altLang="ko-KR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algn="ctr" latinLnBrk="1"/>
                      <a:r>
                        <a:rPr lang="ko-KR" altLang="en-US" sz="2800" dirty="0" err="1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좌석관리</a:t>
                      </a:r>
                      <a:r>
                        <a:rPr lang="ko-KR" altLang="en-US" sz="28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시스템</a:t>
                      </a:r>
                      <a:endParaRPr lang="en-US" altLang="ko-KR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611698"/>
                  </a:ext>
                </a:extLst>
              </a:tr>
            </a:tbl>
          </a:graphicData>
        </a:graphic>
      </p:graphicFrame>
      <p:sp>
        <p:nvSpPr>
          <p:cNvPr id="27" name="왼쪽 중괄호 26"/>
          <p:cNvSpPr/>
          <p:nvPr/>
        </p:nvSpPr>
        <p:spPr>
          <a:xfrm>
            <a:off x="6434336" y="2667770"/>
            <a:ext cx="341455" cy="2898096"/>
          </a:xfrm>
          <a:prstGeom prst="leftBrace">
            <a:avLst>
              <a:gd name="adj1" fmla="val 8333"/>
              <a:gd name="adj2" fmla="val 21870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2651479" y="4284845"/>
            <a:ext cx="36368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열람실 사용을 원하는</a:t>
            </a:r>
            <a:endParaRPr lang="en-US" altLang="ko-KR" sz="2000" dirty="0" smtClean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r>
              <a:rPr lang="ko-KR" altLang="en-US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사용자에게 </a:t>
            </a:r>
            <a:r>
              <a:rPr lang="ko-KR" altLang="en-US" sz="2000" dirty="0" smtClean="0">
                <a:solidFill>
                  <a:srgbClr val="FF0000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인터페이스</a:t>
            </a:r>
            <a:r>
              <a:rPr lang="ko-KR" altLang="en-US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제공</a:t>
            </a:r>
            <a:endParaRPr lang="en-US" altLang="ko-KR" sz="2000" dirty="0" smtClean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endParaRPr lang="en-US" altLang="ko-KR" sz="2000" dirty="0" smtClean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r>
              <a:rPr lang="ko-KR" altLang="en-US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사용자의 </a:t>
            </a:r>
            <a:r>
              <a:rPr lang="ko-KR" altLang="en-US" sz="2000" dirty="0" smtClean="0">
                <a:solidFill>
                  <a:srgbClr val="FF0000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요청</a:t>
            </a:r>
            <a:r>
              <a:rPr lang="en-US" altLang="ko-KR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</a:t>
            </a:r>
            <a:r>
              <a:rPr lang="ko-KR" altLang="en-US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→</a:t>
            </a:r>
            <a:r>
              <a:rPr lang="en-US" altLang="ko-KR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DB/</a:t>
            </a:r>
            <a:r>
              <a:rPr lang="ko-KR" altLang="en-US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시스템</a:t>
            </a:r>
            <a:r>
              <a:rPr lang="en-US" altLang="ko-KR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/>
            </a:r>
            <a:br>
              <a:rPr lang="en-US" altLang="ko-KR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</a:br>
            <a:r>
              <a:rPr lang="en-US" altLang="ko-KR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DB/</a:t>
            </a:r>
            <a:r>
              <a:rPr lang="ko-KR" altLang="en-US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시스템의 </a:t>
            </a:r>
            <a:r>
              <a:rPr lang="ko-KR" altLang="en-US" sz="2000" dirty="0" err="1" smtClean="0">
                <a:solidFill>
                  <a:srgbClr val="FF0000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응답결과</a:t>
            </a:r>
            <a:r>
              <a:rPr lang="ko-KR" altLang="en-US" sz="2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 → 사용자</a:t>
            </a:r>
            <a:endParaRPr lang="en-US" altLang="ko-KR" sz="2000" dirty="0" smtClean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46" y="2570298"/>
            <a:ext cx="1500113" cy="1500113"/>
          </a:xfrm>
          <a:prstGeom prst="rect">
            <a:avLst/>
          </a:prstGeom>
        </p:spPr>
      </p:pic>
      <p:sp>
        <p:nvSpPr>
          <p:cNvPr id="30" name="왼쪽 중괄호 29"/>
          <p:cNvSpPr/>
          <p:nvPr/>
        </p:nvSpPr>
        <p:spPr>
          <a:xfrm flipH="1">
            <a:off x="2313580" y="2667770"/>
            <a:ext cx="343683" cy="1889947"/>
          </a:xfrm>
          <a:prstGeom prst="leftBrace">
            <a:avLst>
              <a:gd name="adj1" fmla="val 0"/>
              <a:gd name="adj2" fmla="val 32945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367789" y="4265329"/>
            <a:ext cx="1602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사용자</a:t>
            </a:r>
            <a:endParaRPr lang="en-US" altLang="ko-KR" sz="3200" dirty="0" smtClean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157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29658" y="1850013"/>
            <a:ext cx="11332684" cy="2387600"/>
          </a:xfrm>
        </p:spPr>
        <p:txBody>
          <a:bodyPr anchor="ctr" anchorCtr="0"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Requirements &amp; Scenario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79125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850013"/>
            <a:ext cx="9144000" cy="2387600"/>
          </a:xfrm>
        </p:spPr>
        <p:txBody>
          <a:bodyPr anchor="ctr" anchorCtr="0"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Use Case Diagram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70917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Use Case Diagram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688" y="1471449"/>
            <a:ext cx="8098623" cy="538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4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850013"/>
            <a:ext cx="9144000" cy="2387600"/>
          </a:xfrm>
        </p:spPr>
        <p:txBody>
          <a:bodyPr anchor="ctr" anchorCtr="0"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Use Case Description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85044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Use Case Description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876306"/>
              </p:ext>
            </p:extLst>
          </p:nvPr>
        </p:nvGraphicFramePr>
        <p:xfrm>
          <a:off x="2163535" y="1758149"/>
          <a:ext cx="7864930" cy="4816810"/>
        </p:xfrm>
        <a:graphic>
          <a:graphicData uri="http://schemas.openxmlformats.org/drawingml/2006/table">
            <a:tbl>
              <a:tblPr/>
              <a:tblGrid>
                <a:gridCol w="1902695">
                  <a:extLst>
                    <a:ext uri="{9D8B030D-6E8A-4147-A177-3AD203B41FA5}">
                      <a16:colId xmlns:a16="http://schemas.microsoft.com/office/drawing/2014/main" val="215804102"/>
                    </a:ext>
                  </a:extLst>
                </a:gridCol>
                <a:gridCol w="5962235">
                  <a:extLst>
                    <a:ext uri="{9D8B030D-6E8A-4147-A177-3AD203B41FA5}">
                      <a16:colId xmlns:a16="http://schemas.microsoft.com/office/drawing/2014/main" val="116221215"/>
                    </a:ext>
                  </a:extLst>
                </a:gridCol>
              </a:tblGrid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ID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036324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좌석 신청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845323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좌석 변경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431743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UC_03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좌석 반납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438617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좌석 연장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907880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UC_05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좌석 이용권 인증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029136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UC_06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좌석 이용권 출력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39563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UC_07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사용자 인증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990696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학생증 인증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826216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UC_09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학번</a:t>
                      </a:r>
                      <a:r>
                        <a:rPr lang="en-US" altLang="ko-KR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비밀번호 인증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626508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87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850013"/>
            <a:ext cx="9144000" cy="2387600"/>
          </a:xfrm>
        </p:spPr>
        <p:txBody>
          <a:bodyPr anchor="ctr" anchorCtr="0"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Class Diagram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60857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645920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450" y="211333"/>
            <a:ext cx="1620470" cy="6435334"/>
          </a:xfrm>
        </p:spPr>
        <p:txBody>
          <a:bodyPr vert="vert270">
            <a:norm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Class Diagram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670" y="425828"/>
            <a:ext cx="9899651" cy="600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2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9909" y="1850013"/>
            <a:ext cx="10352183" cy="2387600"/>
          </a:xfrm>
        </p:spPr>
        <p:txBody>
          <a:bodyPr anchor="ctr" anchorCtr="0">
            <a:normAutofit/>
          </a:bodyPr>
          <a:lstStyle/>
          <a:p>
            <a:r>
              <a:rPr lang="en-US" altLang="ko-KR" sz="5400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System Sequence Diagram</a:t>
            </a:r>
            <a:endParaRPr lang="ko-KR" altLang="en-US" sz="5400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425686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신청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(UC_01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68" y="1566042"/>
            <a:ext cx="10097265" cy="500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1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변경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(UC_02)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65"/>
          <a:stretch/>
        </p:blipFill>
        <p:spPr>
          <a:xfrm>
            <a:off x="558987" y="1566042"/>
            <a:ext cx="11074027" cy="50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42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반납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(UC_03)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00" y="1566042"/>
            <a:ext cx="11404200" cy="498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8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연장 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(UC_04)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34" y="2080392"/>
            <a:ext cx="11778707" cy="410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6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850013"/>
            <a:ext cx="9144000" cy="2387600"/>
          </a:xfrm>
        </p:spPr>
        <p:txBody>
          <a:bodyPr anchor="ctr" anchorCtr="0"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Sequence Diagram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422405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신청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(UC_01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114" y="1566042"/>
            <a:ext cx="9715772" cy="51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7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0" y="0"/>
            <a:ext cx="1645435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483" y="211333"/>
            <a:ext cx="1620470" cy="6435334"/>
          </a:xfrm>
          <a:prstGeom prst="rect">
            <a:avLst/>
          </a:prstGeom>
        </p:spPr>
        <p:txBody>
          <a:bodyPr vert="vert270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변경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(UC_02)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48" y="423443"/>
            <a:ext cx="10402752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8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반납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(UC_03)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59" y="1566042"/>
            <a:ext cx="11297355" cy="501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5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좌석 연장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(UC_04)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14" y="1748922"/>
            <a:ext cx="11898024" cy="448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6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학생증 인증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(UC_08)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8668"/>
            <a:ext cx="12192000" cy="367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3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학번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-</a:t>
            </a:r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비밀번호 인증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(UC_09)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532"/>
            <a:ext cx="12192000" cy="366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6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850013"/>
            <a:ext cx="9144000" cy="2387600"/>
          </a:xfrm>
        </p:spPr>
        <p:txBody>
          <a:bodyPr anchor="ctr" anchorCtr="0"/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감사합니다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0" y="6169446"/>
            <a:ext cx="12192000" cy="688554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algn="r"/>
            <a:r>
              <a:rPr lang="en-US" altLang="ko-KR" sz="3600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20142697 </a:t>
            </a:r>
            <a:r>
              <a:rPr lang="ko-KR" altLang="en-US" sz="3600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권민수</a:t>
            </a:r>
            <a:endParaRPr lang="en-US" altLang="ko-KR" sz="3600" dirty="0" smtClean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987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231</Words>
  <Application>Microsoft Office PowerPoint</Application>
  <PresentationFormat>와이드스크린</PresentationFormat>
  <Paragraphs>76</Paragraphs>
  <Slides>25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a옛날목욕탕L</vt:lpstr>
      <vt:lpstr>맑은 고딕</vt:lpstr>
      <vt:lpstr>Arial</vt:lpstr>
      <vt:lpstr>Wingdings</vt:lpstr>
      <vt:lpstr>Office 테마</vt:lpstr>
      <vt:lpstr>열람실 좌석관리 시스템</vt:lpstr>
      <vt:lpstr>목차</vt:lpstr>
      <vt:lpstr>시스템 소개 / Vision &amp; Scope</vt:lpstr>
      <vt:lpstr>시스템 소개 / Vision &amp; Scope</vt:lpstr>
      <vt:lpstr>시스템 소개 / Vision &amp; Scope</vt:lpstr>
      <vt:lpstr>Requirements &amp; Scenario</vt:lpstr>
      <vt:lpstr>Use Case Diagram</vt:lpstr>
      <vt:lpstr>Use Case Diagram</vt:lpstr>
      <vt:lpstr>Use Case Description</vt:lpstr>
      <vt:lpstr>Use Case Description</vt:lpstr>
      <vt:lpstr>Class Diagram</vt:lpstr>
      <vt:lpstr>Class Diagram</vt:lpstr>
      <vt:lpstr>System Sequence Diagram</vt:lpstr>
      <vt:lpstr>좌석 신청(UC_01)</vt:lpstr>
      <vt:lpstr>좌석 변경(UC_02)</vt:lpstr>
      <vt:lpstr>좌석 반납(UC_03)</vt:lpstr>
      <vt:lpstr>좌석 연장 (UC_04)</vt:lpstr>
      <vt:lpstr>Sequence Diagram</vt:lpstr>
      <vt:lpstr>좌석 신청(UC_01)</vt:lpstr>
      <vt:lpstr>PowerPoint 프레젠테이션</vt:lpstr>
      <vt:lpstr>좌석 반납(UC_03)</vt:lpstr>
      <vt:lpstr>좌석 연장(UC_04)</vt:lpstr>
      <vt:lpstr>학생증 인증(UC_08)</vt:lpstr>
      <vt:lpstr>학번-비밀번호 인증(UC_09)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권 민수</dc:creator>
  <cp:lastModifiedBy>권 민수</cp:lastModifiedBy>
  <cp:revision>28</cp:revision>
  <dcterms:created xsi:type="dcterms:W3CDTF">2019-04-16T12:38:37Z</dcterms:created>
  <dcterms:modified xsi:type="dcterms:W3CDTF">2019-05-27T06:35:02Z</dcterms:modified>
</cp:coreProperties>
</file>