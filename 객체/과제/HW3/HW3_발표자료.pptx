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60" r:id="rId3"/>
    <p:sldId id="293" r:id="rId4"/>
    <p:sldId id="257" r:id="rId5"/>
    <p:sldId id="292" r:id="rId6"/>
    <p:sldId id="258" r:id="rId7"/>
    <p:sldId id="290" r:id="rId8"/>
    <p:sldId id="270" r:id="rId9"/>
    <p:sldId id="262" r:id="rId10"/>
    <p:sldId id="263" r:id="rId11"/>
    <p:sldId id="265" r:id="rId12"/>
    <p:sldId id="267" r:id="rId13"/>
    <p:sldId id="268" r:id="rId14"/>
    <p:sldId id="282" r:id="rId15"/>
    <p:sldId id="271" r:id="rId16"/>
    <p:sldId id="288" r:id="rId17"/>
    <p:sldId id="274" r:id="rId18"/>
    <p:sldId id="283" r:id="rId19"/>
    <p:sldId id="284" r:id="rId20"/>
    <p:sldId id="289" r:id="rId21"/>
    <p:sldId id="286" r:id="rId22"/>
    <p:sldId id="291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5434" autoAdjust="0"/>
  </p:normalViewPr>
  <p:slideViewPr>
    <p:cSldViewPr snapToGrid="0">
      <p:cViewPr varScale="1">
        <p:scale>
          <a:sx n="87" d="100"/>
          <a:sy n="87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92963A-DCBB-40FD-96FC-3F93BD76F5A0}" type="datetimeFigureOut">
              <a:rPr lang="ko-KR" altLang="en-US" smtClean="0"/>
              <a:t>2019-04-16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B31B8A-6A53-4327-BA18-0DA9BAAAE0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907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여기서 </a:t>
            </a:r>
            <a:r>
              <a:rPr lang="en-US" altLang="ko-KR" dirty="0" smtClean="0"/>
              <a:t>Description PDF</a:t>
            </a:r>
            <a:r>
              <a:rPr lang="ko-KR" altLang="en-US" dirty="0" smtClean="0"/>
              <a:t>파일 켬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B31B8A-6A53-4327-BA18-0DA9BAAAE0F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325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BC85-B781-4BB8-8EF1-2F7C7C7443D7}" type="datetimeFigureOut">
              <a:rPr lang="ko-KR" altLang="en-US" smtClean="0"/>
              <a:t>2019-04-16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3EAD-A883-4D2D-94BB-AE423C6C5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630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BC85-B781-4BB8-8EF1-2F7C7C7443D7}" type="datetimeFigureOut">
              <a:rPr lang="ko-KR" altLang="en-US" smtClean="0"/>
              <a:t>2019-04-16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3EAD-A883-4D2D-94BB-AE423C6C5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958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BC85-B781-4BB8-8EF1-2F7C7C7443D7}" type="datetimeFigureOut">
              <a:rPr lang="ko-KR" altLang="en-US" smtClean="0"/>
              <a:t>2019-04-16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3EAD-A883-4D2D-94BB-AE423C6C5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6060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BC85-B781-4BB8-8EF1-2F7C7C7443D7}" type="datetimeFigureOut">
              <a:rPr lang="ko-KR" altLang="en-US" smtClean="0"/>
              <a:t>2019-04-16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3EAD-A883-4D2D-94BB-AE423C6C5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56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BC85-B781-4BB8-8EF1-2F7C7C7443D7}" type="datetimeFigureOut">
              <a:rPr lang="ko-KR" altLang="en-US" smtClean="0"/>
              <a:t>2019-04-16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3EAD-A883-4D2D-94BB-AE423C6C5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0185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BC85-B781-4BB8-8EF1-2F7C7C7443D7}" type="datetimeFigureOut">
              <a:rPr lang="ko-KR" altLang="en-US" smtClean="0"/>
              <a:t>2019-04-16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3EAD-A883-4D2D-94BB-AE423C6C5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0704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BC85-B781-4BB8-8EF1-2F7C7C7443D7}" type="datetimeFigureOut">
              <a:rPr lang="ko-KR" altLang="en-US" smtClean="0"/>
              <a:t>2019-04-16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3EAD-A883-4D2D-94BB-AE423C6C5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349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BC85-B781-4BB8-8EF1-2F7C7C7443D7}" type="datetimeFigureOut">
              <a:rPr lang="ko-KR" altLang="en-US" smtClean="0"/>
              <a:t>2019-04-16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3EAD-A883-4D2D-94BB-AE423C6C5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8387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BC85-B781-4BB8-8EF1-2F7C7C7443D7}" type="datetimeFigureOut">
              <a:rPr lang="ko-KR" altLang="en-US" smtClean="0"/>
              <a:t>2019-04-16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3EAD-A883-4D2D-94BB-AE423C6C5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7876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BC85-B781-4BB8-8EF1-2F7C7C7443D7}" type="datetimeFigureOut">
              <a:rPr lang="ko-KR" altLang="en-US" smtClean="0"/>
              <a:t>2019-04-16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3EAD-A883-4D2D-94BB-AE423C6C5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71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3BC85-B781-4BB8-8EF1-2F7C7C7443D7}" type="datetimeFigureOut">
              <a:rPr lang="ko-KR" altLang="en-US" smtClean="0"/>
              <a:t>2019-04-16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63EAD-A883-4D2D-94BB-AE423C6C5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769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A3BC85-B781-4BB8-8EF1-2F7C7C7443D7}" type="datetimeFigureOut">
              <a:rPr lang="ko-KR" altLang="en-US" smtClean="0"/>
              <a:t>2019-04-16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063EAD-A883-4D2D-94BB-AE423C6C5D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868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11853"/>
            <a:ext cx="9144000" cy="2387600"/>
          </a:xfrm>
        </p:spPr>
        <p:txBody>
          <a:bodyPr/>
          <a:lstStyle/>
          <a:p>
            <a:r>
              <a:rPr lang="ko-KR" altLang="en-US" dirty="0" smtClean="0">
                <a:latin typeface="a옛날목욕탕L" panose="02020600000000000000" pitchFamily="18" charset="-127"/>
                <a:ea typeface="a옛날목욕탕L" panose="02020600000000000000"/>
              </a:rPr>
              <a:t>학식 </a:t>
            </a:r>
            <a:r>
              <a:rPr lang="en-US" altLang="ko-KR" dirty="0" smtClean="0">
                <a:latin typeface="a옛날목욕탕L" panose="02020600000000000000" pitchFamily="18" charset="-127"/>
                <a:ea typeface="a옛날목욕탕L" panose="02020600000000000000"/>
              </a:rPr>
              <a:t>POS </a:t>
            </a:r>
            <a:r>
              <a:rPr lang="ko-KR" altLang="en-US" dirty="0" smtClean="0">
                <a:latin typeface="a옛날목욕탕L" panose="02020600000000000000" pitchFamily="18" charset="-127"/>
                <a:ea typeface="a옛날목욕탕L" panose="02020600000000000000"/>
              </a:rPr>
              <a:t>시스템</a:t>
            </a:r>
            <a:endParaRPr lang="ko-KR" altLang="en-US" dirty="0">
              <a:latin typeface="a옛날목욕탕L" panose="02020600000000000000" pitchFamily="18" charset="-127"/>
              <a:ea typeface="a옛날목욕탕L" panose="0202060000000000000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0" y="5244663"/>
            <a:ext cx="12192000" cy="161333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942896" y="5481144"/>
            <a:ext cx="9144000" cy="2099441"/>
          </a:xfrm>
        </p:spPr>
        <p:txBody>
          <a:bodyPr/>
          <a:lstStyle/>
          <a:p>
            <a:pPr algn="r"/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 </a:t>
            </a:r>
            <a:r>
              <a:rPr lang="en-US" altLang="ko-KR" sz="4000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[ </a:t>
            </a:r>
            <a:r>
              <a:rPr lang="ko-KR" altLang="en-US" sz="4000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나자바바라 </a:t>
            </a:r>
            <a:r>
              <a:rPr lang="en-US" altLang="ko-KR" sz="4000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]</a:t>
            </a:r>
            <a:endParaRPr lang="en-US" altLang="ko-KR" dirty="0" smtClean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  <a:p>
            <a:pPr algn="r"/>
            <a:r>
              <a:rPr lang="ko-KR" altLang="en-US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강길웅 권민수 맹산하 정준권 홍진욱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5719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4188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2759" y="52552"/>
            <a:ext cx="11666482" cy="1460938"/>
          </a:xfrm>
        </p:spPr>
        <p:txBody>
          <a:bodyPr/>
          <a:lstStyle/>
          <a:p>
            <a:r>
              <a:rPr lang="ko-KR" altLang="en-US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목차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2759" y="1797269"/>
            <a:ext cx="1043677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altLang="ko-KR" sz="30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Use Case Diagram</a:t>
            </a:r>
          </a:p>
          <a:p>
            <a:pPr marL="457200" indent="-457200">
              <a:buAutoNum type="arabicPeriod"/>
            </a:pPr>
            <a:endParaRPr lang="en-US" altLang="ko-KR" sz="3000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altLang="ko-KR" sz="30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Use Case </a:t>
            </a:r>
            <a:r>
              <a:rPr lang="en-US" altLang="ko-KR" sz="30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D</a:t>
            </a:r>
            <a:r>
              <a:rPr lang="en-US" altLang="ko-KR" sz="30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escription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endParaRPr lang="en-US" altLang="ko-KR" sz="3000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altLang="ko-KR" sz="30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Class Diagram</a:t>
            </a:r>
          </a:p>
          <a:p>
            <a:pPr marL="457200" indent="-457200">
              <a:buAutoNum type="arabicPeriod"/>
            </a:pPr>
            <a:endParaRPr lang="en-US" altLang="ko-KR" sz="3000" dirty="0"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altLang="ko-KR" sz="3000" dirty="0" smtClean="0">
                <a:latin typeface="a옛날목욕탕L" panose="02020600000000000000" pitchFamily="18" charset="-127"/>
                <a:ea typeface="a옛날목욕탕L" panose="02020600000000000000" pitchFamily="18" charset="-127"/>
              </a:rPr>
              <a:t>Sequence Diagram</a:t>
            </a:r>
          </a:p>
        </p:txBody>
      </p:sp>
    </p:spTree>
    <p:extLst>
      <p:ext uri="{BB962C8B-B14F-4D97-AF65-F5344CB8AC3E}">
        <p14:creationId xmlns:p14="http://schemas.microsoft.com/office/powerpoint/2010/main" val="819131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2237144"/>
            <a:ext cx="12192000" cy="161333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850013"/>
            <a:ext cx="9144000" cy="2387600"/>
          </a:xfrm>
        </p:spPr>
        <p:txBody>
          <a:bodyPr anchor="ctr" anchorCtr="0"/>
          <a:lstStyle/>
          <a:p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/>
              </a:rPr>
              <a:t>Use Case Diagram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1709175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4188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2759" y="52552"/>
            <a:ext cx="11666482" cy="1460938"/>
          </a:xfrm>
        </p:spPr>
        <p:txBody>
          <a:bodyPr/>
          <a:lstStyle/>
          <a:p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Use Case Diagram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07"/>
          <a:stretch/>
        </p:blipFill>
        <p:spPr>
          <a:xfrm>
            <a:off x="2050167" y="1566042"/>
            <a:ext cx="8091666" cy="524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245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2237144"/>
            <a:ext cx="12192000" cy="161333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850013"/>
            <a:ext cx="9144000" cy="2387600"/>
          </a:xfrm>
        </p:spPr>
        <p:txBody>
          <a:bodyPr anchor="ctr" anchorCtr="0"/>
          <a:lstStyle/>
          <a:p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/>
              </a:rPr>
              <a:t>Use Case Description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1850449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4188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2759" y="52552"/>
            <a:ext cx="11666482" cy="1460938"/>
          </a:xfrm>
        </p:spPr>
        <p:txBody>
          <a:bodyPr/>
          <a:lstStyle/>
          <a:p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Use Case </a:t>
            </a:r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Description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127662"/>
              </p:ext>
            </p:extLst>
          </p:nvPr>
        </p:nvGraphicFramePr>
        <p:xfrm>
          <a:off x="2163535" y="2043899"/>
          <a:ext cx="7864930" cy="4335129"/>
        </p:xfrm>
        <a:graphic>
          <a:graphicData uri="http://schemas.openxmlformats.org/drawingml/2006/table">
            <a:tbl>
              <a:tblPr/>
              <a:tblGrid>
                <a:gridCol w="1902695">
                  <a:extLst>
                    <a:ext uri="{9D8B030D-6E8A-4147-A177-3AD203B41FA5}">
                      <a16:colId xmlns:a16="http://schemas.microsoft.com/office/drawing/2014/main" val="215804102"/>
                    </a:ext>
                  </a:extLst>
                </a:gridCol>
                <a:gridCol w="5962235">
                  <a:extLst>
                    <a:ext uri="{9D8B030D-6E8A-4147-A177-3AD203B41FA5}">
                      <a16:colId xmlns:a16="http://schemas.microsoft.com/office/drawing/2014/main" val="116221215"/>
                    </a:ext>
                  </a:extLst>
                </a:gridCol>
              </a:tblGrid>
              <a:tr h="4816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0" dirty="0" smtClean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ID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kern="0" spc="0" dirty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Name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C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8036324"/>
                  </a:ext>
                </a:extLst>
              </a:tr>
              <a:tr h="4816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UC_01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메뉴 갱신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0845323"/>
                  </a:ext>
                </a:extLst>
              </a:tr>
              <a:tr h="4816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UC_02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장바구니 작성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431743"/>
                  </a:ext>
                </a:extLst>
              </a:tr>
              <a:tr h="4816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UC_03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장바구니에 </a:t>
                      </a:r>
                      <a:r>
                        <a:rPr lang="ko-KR" altLang="en-US" sz="1600" kern="0" spc="0" dirty="0" smtClean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메뉴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추가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6438617"/>
                  </a:ext>
                </a:extLst>
              </a:tr>
              <a:tr h="4816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UC_04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 smtClean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장바구니에서 메뉴 </a:t>
                      </a: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삭제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2907880"/>
                  </a:ext>
                </a:extLst>
              </a:tr>
              <a:tr h="4816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UC_05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결제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5029136"/>
                  </a:ext>
                </a:extLst>
              </a:tr>
              <a:tr h="4816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UC_06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현금 결제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339563"/>
                  </a:ext>
                </a:extLst>
              </a:tr>
              <a:tr h="4816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UC_07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카드 결제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3990696"/>
                  </a:ext>
                </a:extLst>
              </a:tr>
              <a:tr h="48168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0" dirty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UC_08</a:t>
                      </a:r>
                      <a:endParaRPr lang="en-US" sz="11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kern="0" spc="0" dirty="0">
                          <a:solidFill>
                            <a:srgbClr val="000000"/>
                          </a:solidFill>
                          <a:effectLst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정산</a:t>
                      </a:r>
                      <a:endParaRPr lang="ko-KR" altLang="en-US" sz="1200" kern="0" spc="0" dirty="0">
                        <a:solidFill>
                          <a:srgbClr val="000000"/>
                        </a:solidFill>
                        <a:effectLst/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826216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86300" y="2251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9871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2237144"/>
            <a:ext cx="12192000" cy="161333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850013"/>
            <a:ext cx="9144000" cy="2387600"/>
          </a:xfrm>
        </p:spPr>
        <p:txBody>
          <a:bodyPr anchor="ctr" anchorCtr="0"/>
          <a:lstStyle/>
          <a:p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/>
              </a:rPr>
              <a:t>Class Diagram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608572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2068286" cy="6858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3908" y="211333"/>
            <a:ext cx="1620470" cy="6435334"/>
          </a:xfrm>
        </p:spPr>
        <p:txBody>
          <a:bodyPr vert="vert270">
            <a:normAutofit/>
          </a:bodyPr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Class Diagram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86300" y="2251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9690" y="0"/>
            <a:ext cx="98723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323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4188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2759" y="52552"/>
            <a:ext cx="11666482" cy="1460938"/>
          </a:xfrm>
        </p:spPr>
        <p:txBody>
          <a:bodyPr/>
          <a:lstStyle/>
          <a:p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Class Diagram - UI [1/5]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86300" y="2251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1275130" y="1566042"/>
            <a:ext cx="9577927" cy="513955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869181"/>
              </p:ext>
            </p:extLst>
          </p:nvPr>
        </p:nvGraphicFramePr>
        <p:xfrm>
          <a:off x="1544176" y="1774358"/>
          <a:ext cx="2841172" cy="47679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0586">
                  <a:extLst>
                    <a:ext uri="{9D8B030D-6E8A-4147-A177-3AD203B41FA5}">
                      <a16:colId xmlns:a16="http://schemas.microsoft.com/office/drawing/2014/main" val="643964809"/>
                    </a:ext>
                  </a:extLst>
                </a:gridCol>
                <a:gridCol w="1420586">
                  <a:extLst>
                    <a:ext uri="{9D8B030D-6E8A-4147-A177-3AD203B41FA5}">
                      <a16:colId xmlns:a16="http://schemas.microsoft.com/office/drawing/2014/main" val="2770247010"/>
                    </a:ext>
                  </a:extLst>
                </a:gridCol>
              </a:tblGrid>
              <a:tr h="4263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메뉴명</a:t>
                      </a:r>
                      <a:endParaRPr lang="ko-KR" altLang="en-US" dirty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수량</a:t>
                      </a:r>
                      <a:endParaRPr lang="ko-KR" altLang="en-US" dirty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4229563"/>
                  </a:ext>
                </a:extLst>
              </a:tr>
              <a:tr h="4263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순대국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1</a:t>
                      </a:r>
                      <a:endParaRPr lang="ko-KR" altLang="en-US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78061597"/>
                  </a:ext>
                </a:extLst>
              </a:tr>
              <a:tr h="4263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치즈김밥</a:t>
                      </a:r>
                      <a:endParaRPr lang="ko-KR" altLang="en-US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2</a:t>
                      </a:r>
                      <a:endParaRPr lang="ko-KR" altLang="en-US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5115601"/>
                  </a:ext>
                </a:extLst>
              </a:tr>
              <a:tr h="426385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2738266"/>
                  </a:ext>
                </a:extLst>
              </a:tr>
              <a:tr h="426385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53650786"/>
                  </a:ext>
                </a:extLst>
              </a:tr>
              <a:tr h="42638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현재 합계</a:t>
                      </a:r>
                      <a:endParaRPr lang="ko-KR" altLang="en-US" dirty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58980608"/>
                  </a:ext>
                </a:extLst>
              </a:tr>
              <a:tr h="42638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11000</a:t>
                      </a:r>
                      <a:r>
                        <a:rPr lang="ko-KR" altLang="en-US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 원</a:t>
                      </a:r>
                      <a:endParaRPr lang="ko-KR" altLang="en-US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8114103"/>
                  </a:ext>
                </a:extLst>
              </a:tr>
              <a:tr h="85277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현 금 결 제</a:t>
                      </a:r>
                      <a:endParaRPr lang="ko-KR" altLang="en-US" sz="3200" dirty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6632557"/>
                  </a:ext>
                </a:extLst>
              </a:tr>
              <a:tr h="93049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3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  <a:cs typeface="+mn-cs"/>
                        </a:rPr>
                        <a:t>카 드 결 제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193716"/>
                  </a:ext>
                </a:extLst>
              </a:tr>
            </a:tbl>
          </a:graphicData>
        </a:graphic>
      </p:graphicFrame>
      <p:grpSp>
        <p:nvGrpSpPr>
          <p:cNvPr id="12" name="그룹 11"/>
          <p:cNvGrpSpPr/>
          <p:nvPr/>
        </p:nvGrpSpPr>
        <p:grpSpPr>
          <a:xfrm>
            <a:off x="3146532" y="2219404"/>
            <a:ext cx="1041933" cy="346368"/>
            <a:chOff x="3178438" y="2379436"/>
            <a:chExt cx="1041933" cy="346368"/>
          </a:xfrm>
        </p:grpSpPr>
        <p:pic>
          <p:nvPicPr>
            <p:cNvPr id="3074" name="Picture 2" descr="Plus Minus Button PSD Template"/>
            <p:cNvPicPr>
              <a:picLocks noChangeAspect="1" noChangeArrowheads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28" t="23000" r="51586" b="39143"/>
            <a:stretch/>
          </p:blipFill>
          <p:spPr bwMode="auto">
            <a:xfrm>
              <a:off x="3896496" y="2379436"/>
              <a:ext cx="323875" cy="3288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Plus Minus Button PSD Template"/>
            <p:cNvPicPr>
              <a:picLocks noChangeAspect="1" noChangeArrowheads="1"/>
            </p:cNvPicPr>
            <p:nvPr/>
          </p:nvPicPr>
          <p:blipFill rotWithShape="1"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000" t="23000" r="10286" b="39143"/>
            <a:stretch/>
          </p:blipFill>
          <p:spPr bwMode="auto">
            <a:xfrm>
              <a:off x="3178438" y="2379436"/>
              <a:ext cx="326762" cy="346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" name="그룹 14"/>
          <p:cNvGrpSpPr/>
          <p:nvPr/>
        </p:nvGrpSpPr>
        <p:grpSpPr>
          <a:xfrm>
            <a:off x="3146532" y="2693246"/>
            <a:ext cx="1041933" cy="346368"/>
            <a:chOff x="3178438" y="2379436"/>
            <a:chExt cx="1041933" cy="346368"/>
          </a:xfrm>
        </p:grpSpPr>
        <p:pic>
          <p:nvPicPr>
            <p:cNvPr id="16" name="Picture 2" descr="Plus Minus Button PSD Template"/>
            <p:cNvPicPr>
              <a:picLocks noChangeAspect="1" noChangeArrowheads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28" t="23000" r="51586" b="39143"/>
            <a:stretch/>
          </p:blipFill>
          <p:spPr bwMode="auto">
            <a:xfrm>
              <a:off x="3896496" y="2379436"/>
              <a:ext cx="323875" cy="3288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 descr="Plus Minus Button PSD Template"/>
            <p:cNvPicPr>
              <a:picLocks noChangeAspect="1" noChangeArrowheads="1"/>
            </p:cNvPicPr>
            <p:nvPr/>
          </p:nvPicPr>
          <p:blipFill rotWithShape="1"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000" t="23000" r="10286" b="39143"/>
            <a:stretch/>
          </p:blipFill>
          <p:spPr bwMode="auto">
            <a:xfrm>
              <a:off x="3178438" y="2379436"/>
              <a:ext cx="326762" cy="346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직사각형 19"/>
          <p:cNvSpPr/>
          <p:nvPr/>
        </p:nvSpPr>
        <p:spPr>
          <a:xfrm>
            <a:off x="4579761" y="1774358"/>
            <a:ext cx="6088990" cy="476795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5042803" y="1957162"/>
            <a:ext cx="1625847" cy="16655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순대국</a:t>
            </a:r>
            <a:endParaRPr lang="en-US" altLang="ko-KR" dirty="0" smtClean="0">
              <a:solidFill>
                <a:schemeClr val="tx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5000</a:t>
            </a:r>
            <a:r>
              <a:rPr lang="ko-KR" altLang="en-US" dirty="0" smtClean="0">
                <a:solidFill>
                  <a:schemeClr val="tx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원</a:t>
            </a:r>
            <a:endParaRPr lang="ko-KR" altLang="en-US" dirty="0">
              <a:solidFill>
                <a:schemeClr val="tx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6863063" y="1957162"/>
            <a:ext cx="1625847" cy="16655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치즈김밥</a:t>
            </a:r>
            <a:endParaRPr lang="en-US" altLang="ko-KR" dirty="0">
              <a:solidFill>
                <a:schemeClr val="tx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2000</a:t>
            </a:r>
            <a:r>
              <a:rPr lang="ko-KR" altLang="en-US" dirty="0" smtClean="0">
                <a:solidFill>
                  <a:schemeClr val="tx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원</a:t>
            </a:r>
            <a:endParaRPr lang="ko-KR" altLang="en-US" dirty="0">
              <a:solidFill>
                <a:schemeClr val="tx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8683323" y="1957162"/>
            <a:ext cx="1625847" cy="16655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짬뽕라면</a:t>
            </a:r>
            <a:endParaRPr lang="en-US" altLang="ko-KR" dirty="0">
              <a:solidFill>
                <a:schemeClr val="tx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3000</a:t>
            </a:r>
            <a:r>
              <a:rPr lang="ko-KR" altLang="en-US" dirty="0">
                <a:solidFill>
                  <a:schemeClr val="tx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원</a:t>
            </a:r>
            <a:endParaRPr lang="ko-KR" altLang="en-US" dirty="0">
              <a:solidFill>
                <a:schemeClr val="tx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8683323" y="3831006"/>
            <a:ext cx="1625847" cy="16655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/>
          <p:cNvSpPr/>
          <p:nvPr/>
        </p:nvSpPr>
        <p:spPr>
          <a:xfrm>
            <a:off x="6863063" y="3831006"/>
            <a:ext cx="1625847" cy="16655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/>
          <p:cNvSpPr/>
          <p:nvPr/>
        </p:nvSpPr>
        <p:spPr>
          <a:xfrm>
            <a:off x="5042803" y="3831006"/>
            <a:ext cx="1625847" cy="16655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819710"/>
              </p:ext>
            </p:extLst>
          </p:nvPr>
        </p:nvGraphicFramePr>
        <p:xfrm>
          <a:off x="8002017" y="6115928"/>
          <a:ext cx="2666734" cy="4263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3367">
                  <a:extLst>
                    <a:ext uri="{9D8B030D-6E8A-4147-A177-3AD203B41FA5}">
                      <a16:colId xmlns:a16="http://schemas.microsoft.com/office/drawing/2014/main" val="4109773778"/>
                    </a:ext>
                  </a:extLst>
                </a:gridCol>
                <a:gridCol w="1333367">
                  <a:extLst>
                    <a:ext uri="{9D8B030D-6E8A-4147-A177-3AD203B41FA5}">
                      <a16:colId xmlns:a16="http://schemas.microsoft.com/office/drawing/2014/main" val="721142009"/>
                    </a:ext>
                  </a:extLst>
                </a:gridCol>
              </a:tblGrid>
              <a:tr h="4263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메뉴 갱신</a:t>
                      </a:r>
                      <a:endParaRPr lang="ko-KR" altLang="en-US" dirty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정산</a:t>
                      </a:r>
                      <a:endParaRPr lang="en-US" altLang="ko-KR" dirty="0" smtClean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611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2960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4188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2759" y="52552"/>
            <a:ext cx="11666482" cy="1460938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Class Diagram </a:t>
            </a:r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- UI [2/5</a:t>
            </a:r>
            <a:r>
              <a:rPr lang="en-US" altLang="ko-KR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]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86300" y="2251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432305" y="1774358"/>
            <a:ext cx="6088990" cy="476795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895347" y="1957162"/>
            <a:ext cx="1625847" cy="16655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순대국</a:t>
            </a:r>
            <a:endParaRPr lang="en-US" altLang="ko-KR" dirty="0" smtClean="0">
              <a:solidFill>
                <a:schemeClr val="tx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5000</a:t>
            </a:r>
            <a:r>
              <a:rPr lang="ko-KR" altLang="en-US" dirty="0" smtClean="0">
                <a:solidFill>
                  <a:schemeClr val="tx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원</a:t>
            </a:r>
            <a:endParaRPr lang="ko-KR" altLang="en-US" dirty="0">
              <a:solidFill>
                <a:schemeClr val="tx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2715607" y="1957162"/>
            <a:ext cx="1625847" cy="16655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치즈김밥</a:t>
            </a:r>
            <a:endParaRPr lang="en-US" altLang="ko-KR" dirty="0">
              <a:solidFill>
                <a:schemeClr val="tx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2000</a:t>
            </a:r>
            <a:r>
              <a:rPr lang="ko-KR" altLang="en-US" dirty="0" smtClean="0">
                <a:solidFill>
                  <a:schemeClr val="tx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원</a:t>
            </a:r>
            <a:endParaRPr lang="ko-KR" altLang="en-US" dirty="0">
              <a:solidFill>
                <a:schemeClr val="tx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4535867" y="1957162"/>
            <a:ext cx="1625847" cy="16655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짬뽕라면</a:t>
            </a:r>
            <a:endParaRPr lang="en-US" altLang="ko-KR" dirty="0">
              <a:solidFill>
                <a:schemeClr val="tx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  <a:p>
            <a:pPr algn="ctr"/>
            <a:endParaRPr lang="en-US" altLang="ko-KR" dirty="0">
              <a:solidFill>
                <a:schemeClr val="tx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  <a:p>
            <a:pPr algn="ctr"/>
            <a:r>
              <a:rPr lang="en-US" altLang="ko-KR" dirty="0" smtClean="0">
                <a:solidFill>
                  <a:schemeClr val="tx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3000</a:t>
            </a:r>
            <a:r>
              <a:rPr lang="ko-KR" altLang="en-US" dirty="0">
                <a:solidFill>
                  <a:schemeClr val="tx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원</a:t>
            </a:r>
            <a:endParaRPr lang="ko-KR" altLang="en-US" dirty="0">
              <a:solidFill>
                <a:schemeClr val="tx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535867" y="3831006"/>
            <a:ext cx="1625847" cy="16655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2715607" y="3831006"/>
            <a:ext cx="1625847" cy="16655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895347" y="3831006"/>
            <a:ext cx="1625847" cy="16655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4" name="표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6646584"/>
              </p:ext>
            </p:extLst>
          </p:nvPr>
        </p:nvGraphicFramePr>
        <p:xfrm>
          <a:off x="5187928" y="6115928"/>
          <a:ext cx="1333367" cy="4263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3367">
                  <a:extLst>
                    <a:ext uri="{9D8B030D-6E8A-4147-A177-3AD203B41FA5}">
                      <a16:colId xmlns:a16="http://schemas.microsoft.com/office/drawing/2014/main" val="4109773778"/>
                    </a:ext>
                  </a:extLst>
                </a:gridCol>
              </a:tblGrid>
              <a:tr h="4263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메뉴 갱신</a:t>
                      </a:r>
                      <a:endParaRPr lang="ko-KR" altLang="en-US" dirty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611698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917214"/>
              </p:ext>
            </p:extLst>
          </p:nvPr>
        </p:nvGraphicFramePr>
        <p:xfrm>
          <a:off x="9571638" y="1836561"/>
          <a:ext cx="2334987" cy="12446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34987">
                  <a:extLst>
                    <a:ext uri="{9D8B030D-6E8A-4147-A177-3AD203B41FA5}">
                      <a16:colId xmlns:a16="http://schemas.microsoft.com/office/drawing/2014/main" val="189480117"/>
                    </a:ext>
                  </a:extLst>
                </a:gridCol>
              </a:tblGrid>
              <a:tr h="6223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UI</a:t>
                      </a:r>
                      <a:endParaRPr lang="ko-KR" altLang="en-US" sz="2800" dirty="0" smtClean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605952"/>
                  </a:ext>
                </a:extLst>
              </a:tr>
              <a:tr h="6223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사용자에게 화면 표시</a:t>
                      </a:r>
                      <a:endParaRPr lang="ko-KR" altLang="en-US" sz="1800" dirty="0" smtClean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5314700"/>
                  </a:ext>
                </a:extLst>
              </a:tr>
            </a:tbl>
          </a:graphicData>
        </a:graphic>
      </p:graphicFrame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090647"/>
              </p:ext>
            </p:extLst>
          </p:nvPr>
        </p:nvGraphicFramePr>
        <p:xfrm>
          <a:off x="9575912" y="3419114"/>
          <a:ext cx="2334987" cy="12446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34987">
                  <a:extLst>
                    <a:ext uri="{9D8B030D-6E8A-4147-A177-3AD203B41FA5}">
                      <a16:colId xmlns:a16="http://schemas.microsoft.com/office/drawing/2014/main" val="189480117"/>
                    </a:ext>
                  </a:extLst>
                </a:gridCol>
              </a:tblGrid>
              <a:tr h="6223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ProductController</a:t>
                      </a:r>
                      <a:endParaRPr lang="ko-KR" altLang="en-US" sz="1600" dirty="0" smtClean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605952"/>
                  </a:ext>
                </a:extLst>
              </a:tr>
              <a:tr h="6223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Product</a:t>
                      </a:r>
                      <a:r>
                        <a:rPr lang="en-US" altLang="ko-KR" sz="16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 </a:t>
                      </a:r>
                      <a:r>
                        <a:rPr lang="ko-KR" altLang="en-US" sz="16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관련 </a:t>
                      </a:r>
                      <a:r>
                        <a:rPr lang="en-US" altLang="ko-KR" sz="16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UI </a:t>
                      </a:r>
                      <a:r>
                        <a:rPr lang="ko-KR" altLang="en-US" sz="16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제어</a:t>
                      </a:r>
                      <a:endParaRPr lang="ko-KR" altLang="en-US" sz="1600" dirty="0" smtClean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51911768"/>
                  </a:ext>
                </a:extLst>
              </a:tr>
            </a:tbl>
          </a:graphicData>
        </a:graphic>
      </p:graphicFrame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372539"/>
              </p:ext>
            </p:extLst>
          </p:nvPr>
        </p:nvGraphicFramePr>
        <p:xfrm>
          <a:off x="9571638" y="5001667"/>
          <a:ext cx="2334987" cy="16891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34987">
                  <a:extLst>
                    <a:ext uri="{9D8B030D-6E8A-4147-A177-3AD203B41FA5}">
                      <a16:colId xmlns:a16="http://schemas.microsoft.com/office/drawing/2014/main" val="189480117"/>
                    </a:ext>
                  </a:extLst>
                </a:gridCol>
              </a:tblGrid>
              <a:tr h="6223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ProductLogic</a:t>
                      </a:r>
                      <a:endParaRPr lang="ko-KR" altLang="en-US" sz="1600" dirty="0" smtClean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605952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Product </a:t>
                      </a:r>
                      <a:r>
                        <a:rPr lang="ko-KR" altLang="en-US" sz="160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관련</a:t>
                      </a:r>
                      <a:r>
                        <a:rPr lang="ko-KR" altLang="en-US" sz="16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 </a:t>
                      </a:r>
                      <a:endParaRPr lang="en-US" altLang="ko-KR" sz="1600" baseline="0" dirty="0" smtClean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논리적</a:t>
                      </a:r>
                      <a:r>
                        <a:rPr lang="en-US" altLang="ko-KR" sz="16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 </a:t>
                      </a:r>
                      <a:r>
                        <a:rPr lang="ko-KR" altLang="en-US" sz="16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연산 수행</a:t>
                      </a:r>
                      <a:endParaRPr lang="en-US" altLang="ko-KR" sz="1600" baseline="0" dirty="0" smtClean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+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Product</a:t>
                      </a:r>
                      <a:r>
                        <a:rPr lang="ko-KR" altLang="en-US" sz="160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 리스트 보관</a:t>
                      </a:r>
                      <a:endParaRPr lang="en-US" altLang="ko-KR" sz="1600" dirty="0" smtClean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85633233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620271"/>
              </p:ext>
            </p:extLst>
          </p:nvPr>
        </p:nvGraphicFramePr>
        <p:xfrm>
          <a:off x="6837887" y="2163022"/>
          <a:ext cx="2334987" cy="14143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34987">
                  <a:extLst>
                    <a:ext uri="{9D8B030D-6E8A-4147-A177-3AD203B41FA5}">
                      <a16:colId xmlns:a16="http://schemas.microsoft.com/office/drawing/2014/main" val="465305652"/>
                    </a:ext>
                  </a:extLst>
                </a:gridCol>
              </a:tblGrid>
              <a:tr h="6223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Product</a:t>
                      </a:r>
                      <a:endParaRPr lang="ko-KR" altLang="en-US" sz="2800" dirty="0" smtClean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98228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제품</a:t>
                      </a:r>
                      <a:r>
                        <a:rPr lang="en-US" altLang="ko-KR" sz="180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(</a:t>
                      </a:r>
                      <a:r>
                        <a:rPr lang="ko-KR" altLang="en-US" sz="180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학식메뉴</a:t>
                      </a:r>
                      <a:r>
                        <a:rPr lang="en-US" altLang="ko-KR" sz="180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)</a:t>
                      </a:r>
                      <a:r>
                        <a:rPr lang="ko-KR" altLang="en-US" sz="180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의</a:t>
                      </a:r>
                      <a:endParaRPr lang="en-US" altLang="ko-KR" sz="1800" dirty="0" smtClean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Entity</a:t>
                      </a:r>
                      <a:r>
                        <a:rPr lang="en-US" altLang="ko-KR" sz="18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 Class</a:t>
                      </a:r>
                      <a:endParaRPr lang="ko-KR" altLang="en-US" sz="1800" dirty="0" smtClean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7856302"/>
                  </a:ext>
                </a:extLst>
              </a:tr>
            </a:tbl>
          </a:graphicData>
        </a:graphic>
      </p:graphicFrame>
      <p:cxnSp>
        <p:nvCxnSpPr>
          <p:cNvPr id="38" name="직선 연결선 37"/>
          <p:cNvCxnSpPr>
            <a:stCxn id="30" idx="3"/>
            <a:endCxn id="18" idx="1"/>
          </p:cNvCxnSpPr>
          <p:nvPr/>
        </p:nvCxnSpPr>
        <p:spPr>
          <a:xfrm>
            <a:off x="6161714" y="2789926"/>
            <a:ext cx="676173" cy="8026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그림 3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7859" y="3803404"/>
            <a:ext cx="895045" cy="895045"/>
          </a:xfrm>
          <a:prstGeom prst="rect">
            <a:avLst/>
          </a:prstGeom>
        </p:spPr>
      </p:pic>
      <p:graphicFrame>
        <p:nvGraphicFramePr>
          <p:cNvPr id="44" name="표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446465"/>
              </p:ext>
            </p:extLst>
          </p:nvPr>
        </p:nvGraphicFramePr>
        <p:xfrm>
          <a:off x="6790565" y="4866728"/>
          <a:ext cx="2429635" cy="15943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29635">
                  <a:extLst>
                    <a:ext uri="{9D8B030D-6E8A-4147-A177-3AD203B41FA5}">
                      <a16:colId xmlns:a16="http://schemas.microsoft.com/office/drawing/2014/main" val="465305652"/>
                    </a:ext>
                  </a:extLst>
                </a:gridCol>
              </a:tblGrid>
              <a:tr h="6223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&lt;&lt;</a:t>
                      </a:r>
                      <a:r>
                        <a:rPr lang="ko-KR" altLang="en-US" sz="240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식단 </a:t>
                      </a:r>
                      <a:r>
                        <a:rPr lang="en-US" altLang="ko-KR" sz="240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DB&gt;&gt;</a:t>
                      </a:r>
                      <a:endParaRPr lang="ko-KR" altLang="en-US" sz="2800" dirty="0" smtClean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982286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 err="1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날짜별</a:t>
                      </a:r>
                      <a:r>
                        <a:rPr lang="ko-KR" altLang="en-US" sz="180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 식단 저장</a:t>
                      </a:r>
                      <a:endParaRPr lang="en-US" altLang="ko-KR" sz="1800" dirty="0" smtClean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(Product</a:t>
                      </a:r>
                      <a:r>
                        <a:rPr lang="en-US" altLang="ko-KR" sz="18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 List) /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요청에 따라 리스트 반환</a:t>
                      </a:r>
                      <a:endParaRPr lang="en-US" altLang="ko-KR" sz="1800" dirty="0" smtClean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7856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8560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4188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2759" y="52552"/>
            <a:ext cx="11666482" cy="1460938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Class Diagram </a:t>
            </a:r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- UI [3/5</a:t>
            </a:r>
            <a:r>
              <a:rPr lang="en-US" altLang="ko-KR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]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86300" y="2251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1483771"/>
              </p:ext>
            </p:extLst>
          </p:nvPr>
        </p:nvGraphicFramePr>
        <p:xfrm>
          <a:off x="8586853" y="2345668"/>
          <a:ext cx="2334987" cy="12446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34987">
                  <a:extLst>
                    <a:ext uri="{9D8B030D-6E8A-4147-A177-3AD203B41FA5}">
                      <a16:colId xmlns:a16="http://schemas.microsoft.com/office/drawing/2014/main" val="189480117"/>
                    </a:ext>
                  </a:extLst>
                </a:gridCol>
              </a:tblGrid>
              <a:tr h="6223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UI</a:t>
                      </a:r>
                      <a:endParaRPr lang="ko-KR" altLang="en-US" sz="2800" dirty="0" smtClean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605952"/>
                  </a:ext>
                </a:extLst>
              </a:tr>
              <a:tr h="62232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사용자에게 화면 표시</a:t>
                      </a:r>
                      <a:endParaRPr lang="ko-KR" altLang="en-US" sz="1800" dirty="0" smtClean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5314700"/>
                  </a:ext>
                </a:extLst>
              </a:tr>
            </a:tbl>
          </a:graphicData>
        </a:graphic>
      </p:graphicFrame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527327"/>
              </p:ext>
            </p:extLst>
          </p:nvPr>
        </p:nvGraphicFramePr>
        <p:xfrm>
          <a:off x="8586854" y="3907435"/>
          <a:ext cx="2334987" cy="190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34987">
                  <a:extLst>
                    <a:ext uri="{9D8B030D-6E8A-4147-A177-3AD203B41FA5}">
                      <a16:colId xmlns:a16="http://schemas.microsoft.com/office/drawing/2014/main" val="189480117"/>
                    </a:ext>
                  </a:extLst>
                </a:gridCol>
              </a:tblGrid>
              <a:tr h="70149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BasketController</a:t>
                      </a:r>
                      <a:endParaRPr lang="ko-KR" altLang="en-US" sz="1600" dirty="0" smtClean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605952"/>
                  </a:ext>
                </a:extLst>
              </a:tr>
              <a:tr h="12025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Basket</a:t>
                      </a:r>
                      <a:r>
                        <a:rPr lang="en-US" altLang="ko-KR" sz="16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 </a:t>
                      </a:r>
                      <a:r>
                        <a:rPr lang="ko-KR" altLang="en-US" sz="16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관련 </a:t>
                      </a:r>
                      <a:r>
                        <a:rPr lang="en-US" altLang="ko-KR" sz="16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UI </a:t>
                      </a:r>
                      <a:r>
                        <a:rPr lang="ko-KR" altLang="en-US" sz="16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제어</a:t>
                      </a:r>
                      <a:endParaRPr lang="en-US" altLang="ko-KR" sz="1600" baseline="0" dirty="0" smtClean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+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현재 사용자가 쓰고있는 </a:t>
                      </a:r>
                      <a:r>
                        <a:rPr lang="en-US" altLang="ko-KR" sz="16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Basket </a:t>
                      </a:r>
                      <a:r>
                        <a:rPr lang="ko-KR" altLang="en-US" sz="16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정보 저장</a:t>
                      </a:r>
                      <a:endParaRPr lang="en-US" altLang="ko-KR" sz="1600" baseline="0" dirty="0" smtClean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51911768"/>
                  </a:ext>
                </a:extLst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425693"/>
              </p:ext>
            </p:extLst>
          </p:nvPr>
        </p:nvGraphicFramePr>
        <p:xfrm>
          <a:off x="1110343" y="2565853"/>
          <a:ext cx="2841172" cy="29846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0586">
                  <a:extLst>
                    <a:ext uri="{9D8B030D-6E8A-4147-A177-3AD203B41FA5}">
                      <a16:colId xmlns:a16="http://schemas.microsoft.com/office/drawing/2014/main" val="98808444"/>
                    </a:ext>
                  </a:extLst>
                </a:gridCol>
                <a:gridCol w="1420586">
                  <a:extLst>
                    <a:ext uri="{9D8B030D-6E8A-4147-A177-3AD203B41FA5}">
                      <a16:colId xmlns:a16="http://schemas.microsoft.com/office/drawing/2014/main" val="1158578164"/>
                    </a:ext>
                  </a:extLst>
                </a:gridCol>
              </a:tblGrid>
              <a:tr h="4263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메뉴명</a:t>
                      </a:r>
                      <a:endParaRPr lang="ko-KR" altLang="en-US" dirty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수량</a:t>
                      </a:r>
                      <a:endParaRPr lang="ko-KR" altLang="en-US" dirty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668588"/>
                  </a:ext>
                </a:extLst>
              </a:tr>
              <a:tr h="42638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순대국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1</a:t>
                      </a:r>
                      <a:endParaRPr lang="ko-KR" altLang="en-US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09416332"/>
                  </a:ext>
                </a:extLst>
              </a:tr>
              <a:tr h="4263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치즈김밥</a:t>
                      </a:r>
                      <a:endParaRPr lang="ko-KR" altLang="en-US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2</a:t>
                      </a:r>
                      <a:endParaRPr lang="ko-KR" altLang="en-US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27017601"/>
                  </a:ext>
                </a:extLst>
              </a:tr>
              <a:tr h="426385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79870246"/>
                  </a:ext>
                </a:extLst>
              </a:tr>
              <a:tr h="426385"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266479"/>
                  </a:ext>
                </a:extLst>
              </a:tr>
              <a:tr h="42638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현재 합계</a:t>
                      </a:r>
                      <a:endParaRPr lang="ko-KR" altLang="en-US" dirty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21157489"/>
                  </a:ext>
                </a:extLst>
              </a:tr>
              <a:tr h="42638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11000</a:t>
                      </a:r>
                      <a:r>
                        <a:rPr lang="ko-KR" altLang="en-US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 원</a:t>
                      </a:r>
                      <a:endParaRPr lang="ko-KR" altLang="en-US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04304579"/>
                  </a:ext>
                </a:extLst>
              </a:tr>
            </a:tbl>
          </a:graphicData>
        </a:graphic>
      </p:graphicFrame>
      <p:grpSp>
        <p:nvGrpSpPr>
          <p:cNvPr id="19" name="그룹 18"/>
          <p:cNvGrpSpPr/>
          <p:nvPr/>
        </p:nvGrpSpPr>
        <p:grpSpPr>
          <a:xfrm>
            <a:off x="2711103" y="3023007"/>
            <a:ext cx="1041933" cy="346368"/>
            <a:chOff x="3178438" y="2379436"/>
            <a:chExt cx="1041933" cy="346368"/>
          </a:xfrm>
        </p:grpSpPr>
        <p:pic>
          <p:nvPicPr>
            <p:cNvPr id="20" name="Picture 2" descr="Plus Minus Button PSD Template"/>
            <p:cNvPicPr>
              <a:picLocks noChangeAspect="1" noChangeArrowheads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28" t="23000" r="51586" b="39143"/>
            <a:stretch/>
          </p:blipFill>
          <p:spPr bwMode="auto">
            <a:xfrm>
              <a:off x="3896496" y="2379436"/>
              <a:ext cx="323875" cy="3288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" descr="Plus Minus Button PSD Template"/>
            <p:cNvPicPr>
              <a:picLocks noChangeAspect="1" noChangeArrowheads="1"/>
            </p:cNvPicPr>
            <p:nvPr/>
          </p:nvPicPr>
          <p:blipFill rotWithShape="1"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000" t="23000" r="10286" b="39143"/>
            <a:stretch/>
          </p:blipFill>
          <p:spPr bwMode="auto">
            <a:xfrm>
              <a:off x="3178438" y="2379436"/>
              <a:ext cx="326762" cy="346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그룹 21"/>
          <p:cNvGrpSpPr/>
          <p:nvPr/>
        </p:nvGrpSpPr>
        <p:grpSpPr>
          <a:xfrm>
            <a:off x="2711103" y="3496849"/>
            <a:ext cx="1041933" cy="346368"/>
            <a:chOff x="3178438" y="2379436"/>
            <a:chExt cx="1041933" cy="346368"/>
          </a:xfrm>
        </p:grpSpPr>
        <p:pic>
          <p:nvPicPr>
            <p:cNvPr id="23" name="Picture 2" descr="Plus Minus Button PSD Template"/>
            <p:cNvPicPr>
              <a:picLocks noChangeAspect="1" noChangeArrowheads="1"/>
            </p:cNvPicPr>
            <p:nvPr/>
          </p:nvPicPr>
          <p:blipFill rotWithShape="1">
            <a:blip r:embed="rId2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128" t="23000" r="51586" b="39143"/>
            <a:stretch/>
          </p:blipFill>
          <p:spPr bwMode="auto">
            <a:xfrm>
              <a:off x="3896496" y="2379436"/>
              <a:ext cx="323875" cy="3288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" descr="Plus Minus Button PSD Template"/>
            <p:cNvPicPr>
              <a:picLocks noChangeAspect="1" noChangeArrowheads="1"/>
            </p:cNvPicPr>
            <p:nvPr/>
          </p:nvPicPr>
          <p:blipFill rotWithShape="1"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000" t="23000" r="10286" b="39143"/>
            <a:stretch/>
          </p:blipFill>
          <p:spPr bwMode="auto">
            <a:xfrm>
              <a:off x="3178438" y="2379436"/>
              <a:ext cx="326762" cy="346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6381"/>
              </p:ext>
            </p:extLst>
          </p:nvPr>
        </p:nvGraphicFramePr>
        <p:xfrm>
          <a:off x="5685438" y="2996638"/>
          <a:ext cx="2334987" cy="20896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34987">
                  <a:extLst>
                    <a:ext uri="{9D8B030D-6E8A-4147-A177-3AD203B41FA5}">
                      <a16:colId xmlns:a16="http://schemas.microsoft.com/office/drawing/2014/main" val="189480117"/>
                    </a:ext>
                  </a:extLst>
                </a:gridCol>
              </a:tblGrid>
              <a:tr h="7180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Basket</a:t>
                      </a:r>
                      <a:endParaRPr lang="ko-KR" altLang="en-US" sz="2800" dirty="0" smtClean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605952"/>
                  </a:ext>
                </a:extLst>
              </a:tr>
              <a:tr h="13715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장바구니의</a:t>
                      </a:r>
                      <a:endParaRPr lang="en-US" altLang="ko-KR" sz="1800" dirty="0" smtClean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Entity</a:t>
                      </a:r>
                      <a:r>
                        <a:rPr lang="en-US" altLang="ko-KR" sz="18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 Class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+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논리적 연산 수행</a:t>
                      </a:r>
                      <a:endParaRPr lang="ko-KR" altLang="en-US" sz="1800" dirty="0" smtClean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5314700"/>
                  </a:ext>
                </a:extLst>
              </a:tr>
            </a:tbl>
          </a:graphicData>
        </a:graphic>
      </p:graphicFrame>
      <p:cxnSp>
        <p:nvCxnSpPr>
          <p:cNvPr id="29" name="직선 연결선 28"/>
          <p:cNvCxnSpPr>
            <a:stCxn id="3" idx="3"/>
            <a:endCxn id="28" idx="1"/>
          </p:cNvCxnSpPr>
          <p:nvPr/>
        </p:nvCxnSpPr>
        <p:spPr>
          <a:xfrm flipV="1">
            <a:off x="3951515" y="4041442"/>
            <a:ext cx="1733923" cy="1675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0192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4188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2759" y="52552"/>
            <a:ext cx="11666482" cy="1460938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Class Diagram - UI </a:t>
            </a:r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[4/5</a:t>
            </a:r>
            <a:r>
              <a:rPr lang="en-US" altLang="ko-KR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]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86300" y="2251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318199"/>
              </p:ext>
            </p:extLst>
          </p:nvPr>
        </p:nvGraphicFramePr>
        <p:xfrm>
          <a:off x="6968371" y="1687810"/>
          <a:ext cx="2334987" cy="192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34987">
                  <a:extLst>
                    <a:ext uri="{9D8B030D-6E8A-4147-A177-3AD203B41FA5}">
                      <a16:colId xmlns:a16="http://schemas.microsoft.com/office/drawing/2014/main" val="189480117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80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UI</a:t>
                      </a:r>
                      <a:endParaRPr lang="ko-KR" altLang="en-US" sz="2800" dirty="0" smtClean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605952"/>
                  </a:ext>
                </a:extLst>
              </a:tr>
              <a:tr h="12024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사용자에게 화면 표시</a:t>
                      </a:r>
                      <a:endParaRPr lang="ko-KR" altLang="en-US" sz="1800" dirty="0" smtClean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5314700"/>
                  </a:ext>
                </a:extLst>
              </a:tr>
            </a:tbl>
          </a:graphicData>
        </a:graphic>
      </p:graphicFrame>
      <p:graphicFrame>
        <p:nvGraphicFramePr>
          <p:cNvPr id="36" name="표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205901"/>
              </p:ext>
            </p:extLst>
          </p:nvPr>
        </p:nvGraphicFramePr>
        <p:xfrm>
          <a:off x="9594254" y="1696118"/>
          <a:ext cx="2334987" cy="19225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34987">
                  <a:extLst>
                    <a:ext uri="{9D8B030D-6E8A-4147-A177-3AD203B41FA5}">
                      <a16:colId xmlns:a16="http://schemas.microsoft.com/office/drawing/2014/main" val="189480117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PaymentController</a:t>
                      </a:r>
                      <a:endParaRPr lang="ko-KR" altLang="en-US" sz="1600" dirty="0" smtClean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605952"/>
                  </a:ext>
                </a:extLst>
              </a:tr>
              <a:tr h="12025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Payment</a:t>
                      </a:r>
                      <a:r>
                        <a:rPr lang="en-US" altLang="ko-KR" sz="16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 </a:t>
                      </a:r>
                      <a:r>
                        <a:rPr lang="ko-KR" altLang="en-US" sz="16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관련 </a:t>
                      </a:r>
                      <a:r>
                        <a:rPr lang="en-US" altLang="ko-KR" sz="16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UI </a:t>
                      </a:r>
                      <a:r>
                        <a:rPr lang="ko-KR" altLang="en-US" sz="16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제어</a:t>
                      </a:r>
                      <a:endParaRPr lang="en-US" altLang="ko-KR" sz="1600" baseline="0" dirty="0" smtClean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+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거스름돈 반환 및</a:t>
                      </a:r>
                      <a:endParaRPr lang="en-US" altLang="ko-KR" sz="1600" baseline="0" dirty="0" smtClean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식권</a:t>
                      </a:r>
                      <a:r>
                        <a:rPr lang="en-US" altLang="ko-KR" sz="16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, </a:t>
                      </a:r>
                      <a:r>
                        <a:rPr lang="ko-KR" altLang="en-US" sz="16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영수증 출력</a:t>
                      </a:r>
                      <a:endParaRPr lang="en-US" altLang="ko-KR" sz="1600" baseline="0" dirty="0" smtClean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51911768"/>
                  </a:ext>
                </a:extLst>
              </a:tr>
            </a:tbl>
          </a:graphicData>
        </a:graphic>
      </p:graphicFrame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678252"/>
              </p:ext>
            </p:extLst>
          </p:nvPr>
        </p:nvGraphicFramePr>
        <p:xfrm>
          <a:off x="4342488" y="1682570"/>
          <a:ext cx="2334987" cy="192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34987">
                  <a:extLst>
                    <a:ext uri="{9D8B030D-6E8A-4147-A177-3AD203B41FA5}">
                      <a16:colId xmlns:a16="http://schemas.microsoft.com/office/drawing/2014/main" val="189480117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Payment</a:t>
                      </a:r>
                      <a:endParaRPr lang="ko-KR" altLang="en-US" sz="2800" dirty="0" smtClean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605952"/>
                  </a:ext>
                </a:extLst>
              </a:tr>
              <a:tr h="12024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결제 정보의</a:t>
                      </a:r>
                      <a:endParaRPr lang="en-US" altLang="ko-KR" sz="1800" baseline="0" dirty="0" smtClean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Entity Class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5314700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9714309"/>
              </p:ext>
            </p:extLst>
          </p:nvPr>
        </p:nvGraphicFramePr>
        <p:xfrm>
          <a:off x="709611" y="2818227"/>
          <a:ext cx="2841172" cy="17832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0586">
                  <a:extLst>
                    <a:ext uri="{9D8B030D-6E8A-4147-A177-3AD203B41FA5}">
                      <a16:colId xmlns:a16="http://schemas.microsoft.com/office/drawing/2014/main" val="2559966417"/>
                    </a:ext>
                  </a:extLst>
                </a:gridCol>
                <a:gridCol w="1420586">
                  <a:extLst>
                    <a:ext uri="{9D8B030D-6E8A-4147-A177-3AD203B41FA5}">
                      <a16:colId xmlns:a16="http://schemas.microsoft.com/office/drawing/2014/main" val="2370375892"/>
                    </a:ext>
                  </a:extLst>
                </a:gridCol>
              </a:tblGrid>
              <a:tr h="85277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현 금 결 제</a:t>
                      </a:r>
                      <a:endParaRPr lang="ko-KR" altLang="en-US" sz="3200" dirty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1185717"/>
                  </a:ext>
                </a:extLst>
              </a:tr>
              <a:tr h="93049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3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  <a:cs typeface="+mn-cs"/>
                        </a:rPr>
                        <a:t>카 드 결 제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347898"/>
                  </a:ext>
                </a:extLst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142170"/>
              </p:ext>
            </p:extLst>
          </p:nvPr>
        </p:nvGraphicFramePr>
        <p:xfrm>
          <a:off x="1463513" y="4918499"/>
          <a:ext cx="1333367" cy="4263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3367">
                  <a:extLst>
                    <a:ext uri="{9D8B030D-6E8A-4147-A177-3AD203B41FA5}">
                      <a16:colId xmlns:a16="http://schemas.microsoft.com/office/drawing/2014/main" val="721142009"/>
                    </a:ext>
                  </a:extLst>
                </a:gridCol>
              </a:tblGrid>
              <a:tr h="4263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정산</a:t>
                      </a:r>
                      <a:endParaRPr lang="en-US" altLang="ko-KR" dirty="0" smtClean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611698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04048"/>
              </p:ext>
            </p:extLst>
          </p:nvPr>
        </p:nvGraphicFramePr>
        <p:xfrm>
          <a:off x="6968370" y="3786520"/>
          <a:ext cx="2334987" cy="13925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34987">
                  <a:extLst>
                    <a:ext uri="{9D8B030D-6E8A-4147-A177-3AD203B41FA5}">
                      <a16:colId xmlns:a16="http://schemas.microsoft.com/office/drawing/2014/main" val="189480117"/>
                    </a:ext>
                  </a:extLst>
                </a:gridCol>
              </a:tblGrid>
              <a:tr h="63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&lt;&lt;</a:t>
                      </a:r>
                      <a:r>
                        <a:rPr lang="en-US" altLang="ko-KR" sz="1600" baseline="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 interface &gt;&gt;</a:t>
                      </a:r>
                      <a:endParaRPr lang="en-US" altLang="ko-KR" sz="1600" dirty="0" smtClean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PaymentLogic</a:t>
                      </a:r>
                      <a:endParaRPr lang="ko-KR" altLang="en-US" sz="1600" dirty="0" smtClean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605952"/>
                  </a:ext>
                </a:extLst>
              </a:tr>
              <a:tr h="7595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Payment</a:t>
                      </a:r>
                      <a:r>
                        <a:rPr lang="en-US" altLang="ko-KR" sz="16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 </a:t>
                      </a:r>
                      <a:r>
                        <a:rPr lang="ko-KR" altLang="en-US" sz="16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관련 </a:t>
                      </a:r>
                      <a:endParaRPr lang="en-US" altLang="ko-KR" sz="1600" baseline="0" dirty="0" smtClean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논리적 연산 수행</a:t>
                      </a:r>
                      <a:endParaRPr lang="en-US" altLang="ko-KR" sz="1600" baseline="0" dirty="0" smtClean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51911768"/>
                  </a:ext>
                </a:extLst>
              </a:tr>
            </a:tbl>
          </a:graphicData>
        </a:graphic>
      </p:graphicFrame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206227"/>
              </p:ext>
            </p:extLst>
          </p:nvPr>
        </p:nvGraphicFramePr>
        <p:xfrm>
          <a:off x="5259314" y="5507625"/>
          <a:ext cx="2334987" cy="10649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34987">
                  <a:extLst>
                    <a:ext uri="{9D8B030D-6E8A-4147-A177-3AD203B41FA5}">
                      <a16:colId xmlns:a16="http://schemas.microsoft.com/office/drawing/2014/main" val="189480117"/>
                    </a:ext>
                  </a:extLst>
                </a:gridCol>
              </a:tblGrid>
              <a:tr h="63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CashPaymentLogic</a:t>
                      </a:r>
                      <a:endParaRPr lang="ko-KR" altLang="en-US" sz="1600" dirty="0" smtClean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60595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현금 결제 시 사용</a:t>
                      </a:r>
                      <a:endParaRPr lang="en-US" altLang="ko-KR" sz="1600" baseline="0" dirty="0" smtClean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51911768"/>
                  </a:ext>
                </a:extLst>
              </a:tr>
            </a:tbl>
          </a:graphicData>
        </a:graphic>
      </p:graphicFrame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504130"/>
              </p:ext>
            </p:extLst>
          </p:nvPr>
        </p:nvGraphicFramePr>
        <p:xfrm>
          <a:off x="8753629" y="5507625"/>
          <a:ext cx="2334987" cy="10649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34987">
                  <a:extLst>
                    <a:ext uri="{9D8B030D-6E8A-4147-A177-3AD203B41FA5}">
                      <a16:colId xmlns:a16="http://schemas.microsoft.com/office/drawing/2014/main" val="189480117"/>
                    </a:ext>
                  </a:extLst>
                </a:gridCol>
              </a:tblGrid>
              <a:tr h="6329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CardPaymentLogic</a:t>
                      </a:r>
                      <a:endParaRPr lang="ko-KR" altLang="en-US" sz="1600" dirty="0" smtClean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60595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카드 결제 시 사용</a:t>
                      </a:r>
                      <a:endParaRPr lang="en-US" altLang="ko-KR" sz="1600" baseline="0" dirty="0" smtClean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51911768"/>
                  </a:ext>
                </a:extLst>
              </a:tr>
            </a:tbl>
          </a:graphicData>
        </a:graphic>
      </p:graphicFrame>
      <p:cxnSp>
        <p:nvCxnSpPr>
          <p:cNvPr id="12" name="직선 연결선 11"/>
          <p:cNvCxnSpPr>
            <a:endCxn id="26" idx="0"/>
          </p:cNvCxnSpPr>
          <p:nvPr/>
        </p:nvCxnSpPr>
        <p:spPr>
          <a:xfrm>
            <a:off x="8218714" y="5179078"/>
            <a:ext cx="1702408" cy="3285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>
            <a:stCxn id="18" idx="2"/>
            <a:endCxn id="24" idx="0"/>
          </p:cNvCxnSpPr>
          <p:nvPr/>
        </p:nvCxnSpPr>
        <p:spPr>
          <a:xfrm flipH="1">
            <a:off x="6426807" y="5179078"/>
            <a:ext cx="1709056" cy="328547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2697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4188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2759" y="52552"/>
            <a:ext cx="11666482" cy="1460938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Class Diagram - UI </a:t>
            </a:r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[5/5</a:t>
            </a:r>
            <a:r>
              <a:rPr lang="en-US" altLang="ko-KR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]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86300" y="2251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709611" y="2818227"/>
          <a:ext cx="2841172" cy="17832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0586">
                  <a:extLst>
                    <a:ext uri="{9D8B030D-6E8A-4147-A177-3AD203B41FA5}">
                      <a16:colId xmlns:a16="http://schemas.microsoft.com/office/drawing/2014/main" val="2559966417"/>
                    </a:ext>
                  </a:extLst>
                </a:gridCol>
                <a:gridCol w="1420586">
                  <a:extLst>
                    <a:ext uri="{9D8B030D-6E8A-4147-A177-3AD203B41FA5}">
                      <a16:colId xmlns:a16="http://schemas.microsoft.com/office/drawing/2014/main" val="2370375892"/>
                    </a:ext>
                  </a:extLst>
                </a:gridCol>
              </a:tblGrid>
              <a:tr h="85277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320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현 금 결 제</a:t>
                      </a:r>
                      <a:endParaRPr lang="ko-KR" altLang="en-US" sz="3200" dirty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1185717"/>
                  </a:ext>
                </a:extLst>
              </a:tr>
              <a:tr h="93049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3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a옛날목욕탕L" panose="02020600000000000000" pitchFamily="18" charset="-127"/>
                          <a:ea typeface="a옛날목욕탕L" panose="02020600000000000000" pitchFamily="18" charset="-127"/>
                          <a:cs typeface="+mn-cs"/>
                        </a:rPr>
                        <a:t>카 드 결 제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347898"/>
                  </a:ext>
                </a:extLst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/>
        </p:nvGraphicFramePr>
        <p:xfrm>
          <a:off x="1463513" y="4918499"/>
          <a:ext cx="1333367" cy="4263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3367">
                  <a:extLst>
                    <a:ext uri="{9D8B030D-6E8A-4147-A177-3AD203B41FA5}">
                      <a16:colId xmlns:a16="http://schemas.microsoft.com/office/drawing/2014/main" val="721142009"/>
                    </a:ext>
                  </a:extLst>
                </a:gridCol>
              </a:tblGrid>
              <a:tr h="4263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정산</a:t>
                      </a:r>
                      <a:endParaRPr lang="en-US" altLang="ko-KR" dirty="0" smtClean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611698"/>
                  </a:ext>
                </a:extLst>
              </a:tr>
            </a:tbl>
          </a:graphicData>
        </a:graphic>
      </p:graphicFrame>
      <p:pic>
        <p:nvPicPr>
          <p:cNvPr id="30" name="그림 2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9626" y="4517012"/>
            <a:ext cx="1743688" cy="1743688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9626" y="2035739"/>
            <a:ext cx="1743688" cy="1743688"/>
          </a:xfrm>
          <a:prstGeom prst="rect">
            <a:avLst/>
          </a:prstGeom>
        </p:spPr>
      </p:pic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3277845"/>
              </p:ext>
            </p:extLst>
          </p:nvPr>
        </p:nvGraphicFramePr>
        <p:xfrm>
          <a:off x="7519612" y="1857027"/>
          <a:ext cx="3230030" cy="1922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30030">
                  <a:extLst>
                    <a:ext uri="{9D8B030D-6E8A-4147-A177-3AD203B41FA5}">
                      <a16:colId xmlns:a16="http://schemas.microsoft.com/office/drawing/2014/main" val="189480117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&lt;&lt; </a:t>
                      </a:r>
                      <a:r>
                        <a:rPr lang="ko-KR" altLang="en-US" sz="180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카드</a:t>
                      </a:r>
                      <a:r>
                        <a:rPr lang="ko-KR" altLang="en-US" sz="1800" baseline="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 결제 승인 시스템 </a:t>
                      </a:r>
                      <a:r>
                        <a:rPr lang="en-US" altLang="ko-KR" sz="1800" baseline="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&gt;&gt;</a:t>
                      </a:r>
                      <a:endParaRPr lang="ko-KR" altLang="en-US" sz="2800" dirty="0" smtClean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605952"/>
                  </a:ext>
                </a:extLst>
              </a:tr>
              <a:tr h="12024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해당 카드로 요청 된 금액만큼의 결제를 수행</a:t>
                      </a:r>
                      <a:r>
                        <a:rPr lang="en-US" altLang="ko-KR" sz="18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, </a:t>
                      </a:r>
                      <a:r>
                        <a:rPr lang="ko-KR" altLang="en-US" sz="1800" baseline="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결과 반환</a:t>
                      </a:r>
                      <a:endParaRPr lang="en-US" altLang="ko-KR" sz="1800" baseline="0" dirty="0" smtClean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5314700"/>
                  </a:ext>
                </a:extLst>
              </a:tr>
            </a:tbl>
          </a:graphicData>
        </a:graphic>
      </p:graphicFrame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1845597"/>
              </p:ext>
            </p:extLst>
          </p:nvPr>
        </p:nvGraphicFramePr>
        <p:xfrm>
          <a:off x="7519612" y="4352977"/>
          <a:ext cx="3230030" cy="19077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30030">
                  <a:extLst>
                    <a:ext uri="{9D8B030D-6E8A-4147-A177-3AD203B41FA5}">
                      <a16:colId xmlns:a16="http://schemas.microsoft.com/office/drawing/2014/main" val="465305652"/>
                    </a:ext>
                  </a:extLst>
                </a:gridCol>
              </a:tblGrid>
              <a:tr h="7446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40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&lt;&lt; </a:t>
                      </a:r>
                      <a:r>
                        <a:rPr lang="ko-KR" altLang="en-US" sz="240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매출정보 </a:t>
                      </a:r>
                      <a:r>
                        <a:rPr lang="en-US" altLang="ko-KR" sz="2400" dirty="0" smtClean="0">
                          <a:solidFill>
                            <a:schemeClr val="bg1"/>
                          </a:solidFill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DB &gt;&gt;</a:t>
                      </a:r>
                      <a:endParaRPr lang="ko-KR" altLang="en-US" sz="2800" dirty="0" smtClean="0">
                        <a:solidFill>
                          <a:schemeClr val="bg1"/>
                        </a:solidFill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5982286"/>
                  </a:ext>
                </a:extLst>
              </a:tr>
              <a:tr h="11630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매출정보</a:t>
                      </a:r>
                      <a:r>
                        <a:rPr lang="en-US" altLang="ko-KR" sz="180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(Payment)</a:t>
                      </a:r>
                      <a:r>
                        <a:rPr lang="ko-KR" altLang="en-US" sz="1800" dirty="0" smtClean="0">
                          <a:latin typeface="a옛날목욕탕L" panose="02020600000000000000" pitchFamily="18" charset="-127"/>
                          <a:ea typeface="a옛날목욕탕L" panose="02020600000000000000" pitchFamily="18" charset="-127"/>
                        </a:rPr>
                        <a:t>를 보관</a:t>
                      </a:r>
                      <a:endParaRPr lang="en-US" altLang="ko-KR" sz="1800" dirty="0" smtClean="0">
                        <a:latin typeface="a옛날목욕탕L" panose="02020600000000000000" pitchFamily="18" charset="-127"/>
                        <a:ea typeface="a옛날목욕탕L" panose="02020600000000000000" pitchFamily="18" charset="-127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7856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433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2237144"/>
            <a:ext cx="12192000" cy="161333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850013"/>
            <a:ext cx="9144000" cy="2387600"/>
          </a:xfrm>
        </p:spPr>
        <p:txBody>
          <a:bodyPr anchor="ctr" anchorCtr="0"/>
          <a:lstStyle/>
          <a:p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/>
              </a:rPr>
              <a:t>Sequence Diagram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4224052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4188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2759" y="52552"/>
            <a:ext cx="11666482" cy="1460938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메뉴 </a:t>
            </a:r>
            <a:r>
              <a:rPr lang="ko-KR" altLang="en-US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갱신</a:t>
            </a:r>
            <a:r>
              <a:rPr lang="en-US" altLang="ko-KR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(UC_01</a:t>
            </a:r>
            <a:r>
              <a:rPr lang="en-US" altLang="ko-KR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)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86300" y="2251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77" y="1720508"/>
            <a:ext cx="10183646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976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4188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2759" y="52552"/>
            <a:ext cx="11666482" cy="1460938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장바구니 </a:t>
            </a:r>
            <a:r>
              <a:rPr lang="ko-KR" altLang="en-US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작성</a:t>
            </a:r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(</a:t>
            </a:r>
            <a:r>
              <a:rPr lang="en-US" altLang="ko-KR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UC_02)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86300" y="2251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400" y="1471449"/>
            <a:ext cx="9359200" cy="536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754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4188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2759" y="52552"/>
            <a:ext cx="11666482" cy="1460938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장바구니 메뉴 추가</a:t>
            </a:r>
            <a:r>
              <a:rPr lang="en-US" altLang="ko-KR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(</a:t>
            </a:r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UC_03)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86300" y="2251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808" y="1698516"/>
            <a:ext cx="10088383" cy="481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069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4188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2759" y="52552"/>
            <a:ext cx="11666482" cy="1460938"/>
          </a:xfrm>
        </p:spPr>
        <p:txBody>
          <a:bodyPr>
            <a:norm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장바구니 메뉴 </a:t>
            </a:r>
            <a:r>
              <a:rPr lang="ko-KR" altLang="en-US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삭제</a:t>
            </a:r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(UC_04)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86300" y="2251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413" y="1717021"/>
            <a:ext cx="10555173" cy="2857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815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86300" y="2251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435" y="0"/>
            <a:ext cx="10546565" cy="6858000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0" y="0"/>
            <a:ext cx="1645435" cy="6858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ko-KR" altLang="en-US"/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12483" y="211333"/>
            <a:ext cx="1620470" cy="6435334"/>
          </a:xfrm>
          <a:prstGeom prst="rect">
            <a:avLst/>
          </a:prstGeom>
        </p:spPr>
        <p:txBody>
          <a:bodyPr vert="vert270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현금 결제</a:t>
            </a:r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(UC_06)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6223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86300" y="2251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0" y="0"/>
            <a:ext cx="1645435" cy="6858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endParaRPr lang="ko-KR" altLang="en-US"/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12483" y="211333"/>
            <a:ext cx="1620470" cy="6435334"/>
          </a:xfrm>
          <a:prstGeom prst="rect">
            <a:avLst/>
          </a:prstGeom>
        </p:spPr>
        <p:txBody>
          <a:bodyPr vert="vert270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카드 결제</a:t>
            </a:r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(UC_07)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775" y="304800"/>
            <a:ext cx="10425225" cy="6047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946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0"/>
            <a:ext cx="12192000" cy="14188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62759" y="52552"/>
            <a:ext cx="11666482" cy="1460938"/>
          </a:xfrm>
        </p:spPr>
        <p:txBody>
          <a:bodyPr>
            <a:normAutofit/>
          </a:bodyPr>
          <a:lstStyle/>
          <a:p>
            <a:r>
              <a:rPr lang="ko-KR" altLang="en-US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정산</a:t>
            </a:r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(UC_08)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686300" y="22510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123" y="1642760"/>
            <a:ext cx="11307753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934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2237144"/>
            <a:ext cx="12192000" cy="161333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850013"/>
            <a:ext cx="9144000" cy="2387600"/>
          </a:xfrm>
        </p:spPr>
        <p:txBody>
          <a:bodyPr anchor="ctr" anchorCtr="0"/>
          <a:lstStyle/>
          <a:p>
            <a:r>
              <a:rPr lang="ko-KR" altLang="en-US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/>
              </a:rPr>
              <a:t>감사합니다</a:t>
            </a:r>
            <a:endParaRPr lang="ko-KR" altLang="en-US" dirty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/>
            </a:endParaRPr>
          </a:p>
        </p:txBody>
      </p:sp>
      <p:sp>
        <p:nvSpPr>
          <p:cNvPr id="5" name="부제목 2"/>
          <p:cNvSpPr>
            <a:spLocks noGrp="1"/>
          </p:cNvSpPr>
          <p:nvPr>
            <p:ph type="subTitle" idx="1"/>
          </p:nvPr>
        </p:nvSpPr>
        <p:spPr>
          <a:xfrm>
            <a:off x="0" y="6195410"/>
            <a:ext cx="12192000" cy="662590"/>
          </a:xfrm>
          <a:solidFill>
            <a:schemeClr val="tx1"/>
          </a:solidFill>
        </p:spPr>
        <p:txBody>
          <a:bodyPr/>
          <a:lstStyle/>
          <a:p>
            <a:pPr algn="r"/>
            <a:r>
              <a:rPr lang="en-US" altLang="ko-KR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 </a:t>
            </a:r>
            <a:r>
              <a:rPr lang="en-US" altLang="ko-KR" sz="4000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[ </a:t>
            </a:r>
            <a:r>
              <a:rPr lang="ko-KR" altLang="en-US" sz="4000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나자바바라 </a:t>
            </a:r>
            <a:r>
              <a:rPr lang="en-US" altLang="ko-KR" sz="4000" dirty="0" smtClean="0">
                <a:solidFill>
                  <a:schemeClr val="bg1"/>
                </a:solidFill>
                <a:latin typeface="a옛날목욕탕L" panose="02020600000000000000" pitchFamily="18" charset="-127"/>
                <a:ea typeface="a옛날목욕탕L" panose="02020600000000000000" pitchFamily="18" charset="-127"/>
              </a:rPr>
              <a:t>]</a:t>
            </a:r>
            <a:endParaRPr lang="en-US" altLang="ko-KR" dirty="0" smtClean="0">
              <a:solidFill>
                <a:schemeClr val="bg1"/>
              </a:solidFill>
              <a:latin typeface="a옛날목욕탕L" panose="02020600000000000000" pitchFamily="18" charset="-127"/>
              <a:ea typeface="a옛날목욕탕L" panose="02020600000000000000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9874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352</Words>
  <Application>Microsoft Office PowerPoint</Application>
  <PresentationFormat>와이드스크린</PresentationFormat>
  <Paragraphs>146</Paragraphs>
  <Slides>22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7" baseType="lpstr">
      <vt:lpstr>a옛날목욕탕L</vt:lpstr>
      <vt:lpstr>맑은 고딕</vt:lpstr>
      <vt:lpstr>Arial</vt:lpstr>
      <vt:lpstr>Wingdings</vt:lpstr>
      <vt:lpstr>Office 테마</vt:lpstr>
      <vt:lpstr>학식 POS 시스템</vt:lpstr>
      <vt:lpstr>목차</vt:lpstr>
      <vt:lpstr>Use Case Diagram</vt:lpstr>
      <vt:lpstr>Use Case Diagram</vt:lpstr>
      <vt:lpstr>Use Case Description</vt:lpstr>
      <vt:lpstr>Use Case Description</vt:lpstr>
      <vt:lpstr>Class Diagram</vt:lpstr>
      <vt:lpstr>Class Diagram</vt:lpstr>
      <vt:lpstr>Class Diagram - UI [1/5]</vt:lpstr>
      <vt:lpstr>Class Diagram - UI [2/5]</vt:lpstr>
      <vt:lpstr>Class Diagram - UI [3/5]</vt:lpstr>
      <vt:lpstr>Class Diagram - UI [4/5]</vt:lpstr>
      <vt:lpstr>Class Diagram - UI [5/5]</vt:lpstr>
      <vt:lpstr>Sequence Diagram</vt:lpstr>
      <vt:lpstr>메뉴 갱신(UC_01)</vt:lpstr>
      <vt:lpstr>장바구니 작성(UC_02)</vt:lpstr>
      <vt:lpstr>장바구니 메뉴 추가(UC_03)</vt:lpstr>
      <vt:lpstr>장바구니 메뉴 삭제(UC_04)</vt:lpstr>
      <vt:lpstr>PowerPoint 프레젠테이션</vt:lpstr>
      <vt:lpstr>PowerPoint 프레젠테이션</vt:lpstr>
      <vt:lpstr>정산(UC_08)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권 민수</dc:creator>
  <cp:lastModifiedBy>권 민수</cp:lastModifiedBy>
  <cp:revision>16</cp:revision>
  <dcterms:created xsi:type="dcterms:W3CDTF">2019-04-16T12:38:37Z</dcterms:created>
  <dcterms:modified xsi:type="dcterms:W3CDTF">2019-04-16T15:11:49Z</dcterms:modified>
</cp:coreProperties>
</file>