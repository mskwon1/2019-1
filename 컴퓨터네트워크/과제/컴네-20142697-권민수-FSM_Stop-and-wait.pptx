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58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34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96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4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70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30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25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115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09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3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D3A9B-EC7C-4DCC-87F3-35F0B1CFB964}" type="datetimeFigureOut">
              <a:rPr lang="ko-KR" altLang="en-US" smtClean="0"/>
              <a:t>2019-04-08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DA598-4989-4BA0-B00D-8CAD3B627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88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240220" y="1891862"/>
            <a:ext cx="1408386" cy="52551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Ready</a:t>
            </a:r>
            <a:endParaRPr lang="ko-KR" altLang="en-US" sz="1600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6337737" y="1891861"/>
            <a:ext cx="1408386" cy="52551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Blocking</a:t>
            </a:r>
            <a:endParaRPr lang="ko-KR" altLang="en-US" sz="1600" dirty="0"/>
          </a:p>
        </p:txBody>
      </p:sp>
      <p:cxnSp>
        <p:nvCxnSpPr>
          <p:cNvPr id="7" name="직선 연결선 6"/>
          <p:cNvCxnSpPr>
            <a:stCxn id="4" idx="0"/>
          </p:cNvCxnSpPr>
          <p:nvPr/>
        </p:nvCxnSpPr>
        <p:spPr>
          <a:xfrm flipV="1">
            <a:off x="1944413" y="1397875"/>
            <a:ext cx="10510" cy="493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7041930" y="1397875"/>
            <a:ext cx="10510" cy="4939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954923" y="1397875"/>
            <a:ext cx="5087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7010399" y="2417378"/>
            <a:ext cx="10510" cy="493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 flipV="1">
            <a:off x="1912882" y="2417378"/>
            <a:ext cx="10510" cy="4939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H="1" flipV="1">
            <a:off x="1923392" y="2906107"/>
            <a:ext cx="5087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 flipV="1">
            <a:off x="7346730" y="2417378"/>
            <a:ext cx="10510" cy="4939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H="1" flipV="1">
            <a:off x="5959364" y="5818059"/>
            <a:ext cx="10510" cy="4939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7746123" y="2291254"/>
            <a:ext cx="693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8439806" y="2291254"/>
            <a:ext cx="0" cy="614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 flipV="1">
            <a:off x="7746123" y="2154619"/>
            <a:ext cx="693683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7357240" y="1337441"/>
            <a:ext cx="0" cy="614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7357240" y="1337441"/>
            <a:ext cx="10825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8439806" y="1337440"/>
            <a:ext cx="0" cy="817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7357240" y="2906107"/>
            <a:ext cx="10825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V="1">
            <a:off x="893378" y="2425260"/>
            <a:ext cx="346842" cy="201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8165" y="2567304"/>
            <a:ext cx="101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start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912882" y="718911"/>
            <a:ext cx="509751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Application Layer</a:t>
            </a:r>
            <a:r>
              <a:rPr lang="ko-KR" altLang="en-US" dirty="0" smtClean="0">
                <a:solidFill>
                  <a:srgbClr val="FF0000"/>
                </a:solidFill>
              </a:rPr>
              <a:t>에서 </a:t>
            </a:r>
            <a:r>
              <a:rPr lang="en-US" altLang="ko-KR" dirty="0" smtClean="0">
                <a:solidFill>
                  <a:srgbClr val="FF0000"/>
                </a:solidFill>
              </a:rPr>
              <a:t>Send </a:t>
            </a:r>
            <a:r>
              <a:rPr lang="ko-KR" altLang="en-US" dirty="0" smtClean="0">
                <a:solidFill>
                  <a:srgbClr val="FF0000"/>
                </a:solidFill>
              </a:rPr>
              <a:t>요청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sz="1600" dirty="0" smtClean="0">
                <a:solidFill>
                  <a:srgbClr val="0070C0"/>
                </a:solidFill>
              </a:rPr>
              <a:t>패킷</a:t>
            </a:r>
            <a:r>
              <a:rPr lang="ko-KR" altLang="en-US" sz="1600" dirty="0" smtClean="0"/>
              <a:t> 생성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seqNo</a:t>
            </a:r>
            <a:r>
              <a:rPr lang="en-US" altLang="ko-KR" sz="1600" dirty="0" smtClean="0"/>
              <a:t> = S), </a:t>
            </a:r>
            <a:r>
              <a:rPr lang="ko-KR" altLang="en-US" sz="1600" dirty="0" smtClean="0"/>
              <a:t>저장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전송</a:t>
            </a:r>
            <a:r>
              <a:rPr lang="en-US" altLang="ko-KR" sz="1600" dirty="0" smtClean="0"/>
              <a:t>, </a:t>
            </a:r>
            <a:r>
              <a:rPr lang="ko-KR" altLang="en-US" sz="1600" dirty="0" smtClean="0">
                <a:solidFill>
                  <a:srgbClr val="00B050"/>
                </a:solidFill>
              </a:rPr>
              <a:t>타이머</a:t>
            </a:r>
            <a:r>
              <a:rPr lang="ko-KR" altLang="en-US" sz="1600" dirty="0" smtClean="0"/>
              <a:t> 시작</a:t>
            </a:r>
            <a:endParaRPr lang="ko-KR" altLang="en-US" sz="1600" dirty="0"/>
          </a:p>
        </p:txBody>
      </p:sp>
      <p:sp>
        <p:nvSpPr>
          <p:cNvPr id="44" name="TextBox 43"/>
          <p:cNvSpPr txBox="1"/>
          <p:nvPr/>
        </p:nvSpPr>
        <p:spPr>
          <a:xfrm>
            <a:off x="8481847" y="1438252"/>
            <a:ext cx="509751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타이머 시간 초과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sz="1600" dirty="0" smtClean="0">
                <a:solidFill>
                  <a:srgbClr val="0070C0"/>
                </a:solidFill>
              </a:rPr>
              <a:t>패킷</a:t>
            </a:r>
            <a:r>
              <a:rPr lang="ko-KR" altLang="en-US" sz="1600" dirty="0" smtClean="0"/>
              <a:t> 재전송</a:t>
            </a:r>
            <a:r>
              <a:rPr lang="en-US" altLang="ko-KR" sz="1600" dirty="0" smtClean="0"/>
              <a:t>, </a:t>
            </a:r>
            <a:r>
              <a:rPr lang="ko-KR" altLang="en-US" sz="1600" dirty="0" smtClean="0">
                <a:solidFill>
                  <a:srgbClr val="00B050"/>
                </a:solidFill>
              </a:rPr>
              <a:t>타이머</a:t>
            </a:r>
            <a:r>
              <a:rPr lang="ko-KR" altLang="en-US" sz="1600" dirty="0" smtClean="0"/>
              <a:t> 재 시작</a:t>
            </a:r>
            <a:endParaRPr lang="ko-KR" alt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451535" y="4810077"/>
            <a:ext cx="198383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손상된 패킷 수신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sz="1600" dirty="0" smtClean="0"/>
              <a:t>받은 </a:t>
            </a:r>
            <a:r>
              <a:rPr lang="ko-KR" altLang="en-US" sz="1600" dirty="0" smtClean="0">
                <a:solidFill>
                  <a:srgbClr val="0070C0"/>
                </a:solidFill>
              </a:rPr>
              <a:t>패킷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삭제</a:t>
            </a:r>
            <a:endParaRPr lang="ko-KR" altLang="en-US" sz="1600" dirty="0"/>
          </a:p>
        </p:txBody>
      </p:sp>
      <p:sp>
        <p:nvSpPr>
          <p:cNvPr id="46" name="TextBox 45"/>
          <p:cNvSpPr txBox="1"/>
          <p:nvPr/>
        </p:nvSpPr>
        <p:spPr>
          <a:xfrm>
            <a:off x="1954923" y="2968471"/>
            <a:ext cx="509751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알맞은 </a:t>
            </a:r>
            <a:r>
              <a:rPr lang="en-US" altLang="ko-KR" dirty="0" err="1" smtClean="0">
                <a:solidFill>
                  <a:srgbClr val="FF0000"/>
                </a:solidFill>
              </a:rPr>
              <a:t>ackNo</a:t>
            </a:r>
            <a:r>
              <a:rPr lang="en-US" altLang="ko-KR" dirty="0" smtClean="0">
                <a:solidFill>
                  <a:srgbClr val="FF0000"/>
                </a:solidFill>
              </a:rPr>
              <a:t>((S+1)%2)</a:t>
            </a:r>
            <a:r>
              <a:rPr lang="ko-KR" altLang="en-US" dirty="0" smtClean="0">
                <a:solidFill>
                  <a:srgbClr val="FF0000"/>
                </a:solidFill>
              </a:rPr>
              <a:t>로 이루어진 </a:t>
            </a:r>
            <a:r>
              <a:rPr lang="en-US" altLang="ko-KR" dirty="0" smtClean="0">
                <a:solidFill>
                  <a:srgbClr val="FF0000"/>
                </a:solidFill>
              </a:rPr>
              <a:t>ACK </a:t>
            </a:r>
            <a:r>
              <a:rPr lang="ko-KR" altLang="en-US" dirty="0" smtClean="0">
                <a:solidFill>
                  <a:srgbClr val="FF0000"/>
                </a:solidFill>
              </a:rPr>
              <a:t>수신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sz="1600" dirty="0" smtClean="0"/>
              <a:t>S = (S+1)%2 </a:t>
            </a:r>
            <a:r>
              <a:rPr lang="ko-KR" altLang="en-US" sz="1600" dirty="0" smtClean="0"/>
              <a:t>연산 수행</a:t>
            </a:r>
            <a:r>
              <a:rPr lang="en-US" altLang="ko-KR" sz="1600" dirty="0" smtClean="0"/>
              <a:t>, </a:t>
            </a:r>
            <a:r>
              <a:rPr lang="ko-KR" altLang="en-US" sz="1600" dirty="0" smtClean="0">
                <a:solidFill>
                  <a:srgbClr val="00B050"/>
                </a:solidFill>
              </a:rPr>
              <a:t>타이머</a:t>
            </a:r>
            <a:r>
              <a:rPr lang="ko-KR" altLang="en-US" sz="1600" dirty="0" smtClean="0"/>
              <a:t> 정지</a:t>
            </a:r>
            <a:endParaRPr lang="ko-KR" altLang="en-US" sz="1600" dirty="0"/>
          </a:p>
        </p:txBody>
      </p:sp>
      <p:sp>
        <p:nvSpPr>
          <p:cNvPr id="47" name="직사각형 46"/>
          <p:cNvSpPr/>
          <p:nvPr/>
        </p:nvSpPr>
        <p:spPr>
          <a:xfrm>
            <a:off x="84083" y="378372"/>
            <a:ext cx="12023834" cy="3468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254" y="39947"/>
            <a:ext cx="50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Sender</a:t>
            </a:r>
            <a:endParaRPr lang="ko-KR" altLang="en-US" sz="1600" dirty="0"/>
          </a:p>
        </p:txBody>
      </p:sp>
      <p:sp>
        <p:nvSpPr>
          <p:cNvPr id="72" name="직사각형 71"/>
          <p:cNvSpPr/>
          <p:nvPr/>
        </p:nvSpPr>
        <p:spPr>
          <a:xfrm>
            <a:off x="84083" y="4276329"/>
            <a:ext cx="12023834" cy="24354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5254" y="3937904"/>
            <a:ext cx="50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Receiver</a:t>
            </a:r>
            <a:endParaRPr lang="ko-KR" altLang="en-US" sz="1600" dirty="0"/>
          </a:p>
        </p:txBody>
      </p:sp>
      <p:sp>
        <p:nvSpPr>
          <p:cNvPr id="74" name="모서리가 둥근 직사각형 73"/>
          <p:cNvSpPr/>
          <p:nvPr/>
        </p:nvSpPr>
        <p:spPr>
          <a:xfrm>
            <a:off x="4939862" y="5284661"/>
            <a:ext cx="1408386" cy="52551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Ready</a:t>
            </a:r>
            <a:endParaRPr lang="ko-KR" altLang="en-US" sz="1600" dirty="0"/>
          </a:p>
        </p:txBody>
      </p:sp>
      <p:cxnSp>
        <p:nvCxnSpPr>
          <p:cNvPr id="75" name="직선 화살표 연결선 74"/>
          <p:cNvCxnSpPr/>
          <p:nvPr/>
        </p:nvCxnSpPr>
        <p:spPr>
          <a:xfrm flipV="1">
            <a:off x="4593020" y="5818059"/>
            <a:ext cx="346842" cy="201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67807" y="5960103"/>
            <a:ext cx="101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start</a:t>
            </a:r>
            <a:endParaRPr lang="ko-KR" altLang="en-US" dirty="0"/>
          </a:p>
        </p:txBody>
      </p:sp>
      <p:cxnSp>
        <p:nvCxnSpPr>
          <p:cNvPr id="78" name="직선 연결선 77"/>
          <p:cNvCxnSpPr/>
          <p:nvPr/>
        </p:nvCxnSpPr>
        <p:spPr>
          <a:xfrm>
            <a:off x="6358757" y="5686433"/>
            <a:ext cx="693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7052440" y="5686433"/>
            <a:ext cx="0" cy="614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5969874" y="6301286"/>
            <a:ext cx="10825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flipH="1" flipV="1">
            <a:off x="6358757" y="5506709"/>
            <a:ext cx="693683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5969874" y="4689531"/>
            <a:ext cx="0" cy="614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5969874" y="4689531"/>
            <a:ext cx="10825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7052440" y="4689530"/>
            <a:ext cx="0" cy="817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>
            <a:off x="4435365" y="5506709"/>
            <a:ext cx="5044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4435365" y="4689530"/>
            <a:ext cx="0" cy="817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4435365" y="4689531"/>
            <a:ext cx="10825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 flipH="1">
            <a:off x="5507422" y="4689531"/>
            <a:ext cx="12494" cy="58724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8518634" y="2290554"/>
            <a:ext cx="39151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손상된 </a:t>
            </a:r>
            <a:r>
              <a:rPr lang="en-US" altLang="ko-KR" dirty="0" smtClean="0">
                <a:solidFill>
                  <a:srgbClr val="FF0000"/>
                </a:solidFill>
              </a:rPr>
              <a:t>ACK /</a:t>
            </a:r>
          </a:p>
          <a:p>
            <a:r>
              <a:rPr lang="en-US" altLang="ko-KR" sz="1600" dirty="0" err="1" smtClean="0">
                <a:solidFill>
                  <a:srgbClr val="FF0000"/>
                </a:solidFill>
              </a:rPr>
              <a:t>ackNo</a:t>
            </a:r>
            <a:r>
              <a:rPr lang="ko-KR" altLang="en-US" sz="1600" dirty="0" smtClean="0">
                <a:solidFill>
                  <a:srgbClr val="FF0000"/>
                </a:solidFill>
              </a:rPr>
              <a:t>가 </a:t>
            </a:r>
            <a:r>
              <a:rPr lang="en-US" altLang="ko-KR" sz="1600" dirty="0" smtClean="0">
                <a:solidFill>
                  <a:srgbClr val="FF0000"/>
                </a:solidFill>
              </a:rPr>
              <a:t>S</a:t>
            </a:r>
            <a:r>
              <a:rPr lang="ko-KR" altLang="en-US" sz="1600" dirty="0" smtClean="0">
                <a:solidFill>
                  <a:srgbClr val="FF0000"/>
                </a:solidFill>
              </a:rPr>
              <a:t>값과 일치하는 </a:t>
            </a:r>
            <a:r>
              <a:rPr lang="en-US" altLang="ko-KR" sz="1600" dirty="0" smtClean="0">
                <a:solidFill>
                  <a:srgbClr val="FF0000"/>
                </a:solidFill>
              </a:rPr>
              <a:t>ACK </a:t>
            </a:r>
            <a:r>
              <a:rPr lang="ko-KR" altLang="en-US" sz="1600" dirty="0" smtClean="0">
                <a:solidFill>
                  <a:srgbClr val="FF0000"/>
                </a:solidFill>
              </a:rPr>
              <a:t>수신</a:t>
            </a:r>
            <a:endParaRPr lang="en-US" altLang="ko-KR" sz="1600" dirty="0" smtClean="0">
              <a:solidFill>
                <a:srgbClr val="FF0000"/>
              </a:solidFill>
            </a:endParaRPr>
          </a:p>
          <a:p>
            <a:r>
              <a:rPr lang="ko-KR" altLang="en-US" sz="1600" dirty="0" smtClean="0"/>
              <a:t>받은 패킷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삭제</a:t>
            </a:r>
            <a:endParaRPr lang="ko-KR" altLang="en-US" sz="1600" dirty="0"/>
          </a:p>
        </p:txBody>
      </p:sp>
      <p:sp>
        <p:nvSpPr>
          <p:cNvPr id="115" name="TextBox 114"/>
          <p:cNvSpPr txBox="1"/>
          <p:nvPr/>
        </p:nvSpPr>
        <p:spPr>
          <a:xfrm>
            <a:off x="7143089" y="4461638"/>
            <a:ext cx="40504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손상되지 않은 패킷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en-US" altLang="ko-KR" dirty="0" err="1" smtClean="0">
                <a:solidFill>
                  <a:srgbClr val="FF0000"/>
                </a:solidFill>
              </a:rPr>
              <a:t>seqNo</a:t>
            </a:r>
            <a:r>
              <a:rPr lang="en-US" altLang="ko-KR" dirty="0" smtClean="0">
                <a:solidFill>
                  <a:srgbClr val="FF0000"/>
                </a:solidFill>
              </a:rPr>
              <a:t> = R) </a:t>
            </a:r>
            <a:r>
              <a:rPr lang="ko-KR" altLang="en-US" dirty="0" smtClean="0">
                <a:solidFill>
                  <a:srgbClr val="FF0000"/>
                </a:solidFill>
              </a:rPr>
              <a:t>수신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sz="1600" dirty="0" smtClean="0"/>
              <a:t>Application Layer</a:t>
            </a:r>
            <a:r>
              <a:rPr lang="ko-KR" altLang="en-US" sz="1600" dirty="0" smtClean="0"/>
              <a:t>에 메시지 전달</a:t>
            </a:r>
            <a:endParaRPr lang="en-US" altLang="ko-KR" sz="1600" dirty="0" smtClean="0"/>
          </a:p>
          <a:p>
            <a:r>
              <a:rPr lang="en-US" altLang="ko-KR" sz="1600" dirty="0" smtClean="0"/>
              <a:t>R = (R+1)%2 </a:t>
            </a:r>
            <a:r>
              <a:rPr lang="ko-KR" altLang="en-US" sz="1600" dirty="0" smtClean="0"/>
              <a:t>수행</a:t>
            </a:r>
            <a:endParaRPr lang="en-US" altLang="ko-KR" sz="1600" dirty="0" smtClean="0"/>
          </a:p>
          <a:p>
            <a:r>
              <a:rPr lang="en-US" altLang="ko-KR" sz="1600" dirty="0" smtClean="0"/>
              <a:t>Sender</a:t>
            </a:r>
            <a:r>
              <a:rPr lang="ko-KR" altLang="en-US" sz="1600" dirty="0" smtClean="0"/>
              <a:t>에게 </a:t>
            </a:r>
            <a:r>
              <a:rPr lang="en-US" altLang="ko-KR" sz="1600" dirty="0" smtClean="0"/>
              <a:t>ACK(</a:t>
            </a:r>
            <a:r>
              <a:rPr lang="en-US" altLang="ko-KR" sz="1600" dirty="0" err="1" smtClean="0"/>
              <a:t>ackNo</a:t>
            </a:r>
            <a:r>
              <a:rPr lang="en-US" altLang="ko-KR" sz="1600" dirty="0" smtClean="0"/>
              <a:t> = R) </a:t>
            </a:r>
            <a:r>
              <a:rPr lang="ko-KR" altLang="en-US" sz="1600" dirty="0" smtClean="0"/>
              <a:t>전송</a:t>
            </a:r>
            <a:endParaRPr lang="ko-KR" altLang="en-US" sz="16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143089" y="5634165"/>
            <a:ext cx="40504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손상되지 않은 패킷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en-US" altLang="ko-KR" dirty="0" err="1" smtClean="0">
                <a:solidFill>
                  <a:srgbClr val="FF0000"/>
                </a:solidFill>
              </a:rPr>
              <a:t>seqNo</a:t>
            </a:r>
            <a:r>
              <a:rPr lang="en-US" altLang="ko-KR" dirty="0" smtClean="0">
                <a:solidFill>
                  <a:srgbClr val="FF0000"/>
                </a:solidFill>
              </a:rPr>
              <a:t> != R) </a:t>
            </a:r>
            <a:r>
              <a:rPr lang="ko-KR" altLang="en-US" dirty="0" smtClean="0">
                <a:solidFill>
                  <a:srgbClr val="FF0000"/>
                </a:solidFill>
              </a:rPr>
              <a:t>수신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sz="1600" dirty="0" smtClean="0"/>
              <a:t>받은</a:t>
            </a:r>
            <a:r>
              <a:rPr lang="ko-KR" altLang="en-US" sz="1600" dirty="0" smtClean="0">
                <a:solidFill>
                  <a:srgbClr val="0070C0"/>
                </a:solidFill>
              </a:rPr>
              <a:t> 패킷 </a:t>
            </a:r>
            <a:r>
              <a:rPr lang="ko-KR" altLang="en-US" sz="1600" dirty="0" smtClean="0"/>
              <a:t>삭제</a:t>
            </a:r>
            <a:endParaRPr lang="en-US" altLang="ko-KR" sz="1600" dirty="0" smtClean="0"/>
          </a:p>
          <a:p>
            <a:r>
              <a:rPr lang="en-US" altLang="ko-KR" sz="1600" dirty="0" smtClean="0"/>
              <a:t>Sender</a:t>
            </a:r>
            <a:r>
              <a:rPr lang="ko-KR" altLang="en-US" sz="1600" dirty="0" smtClean="0"/>
              <a:t>에게 </a:t>
            </a:r>
            <a:r>
              <a:rPr lang="en-US" altLang="ko-KR" sz="1600" dirty="0" smtClean="0"/>
              <a:t>ACK(</a:t>
            </a:r>
            <a:r>
              <a:rPr lang="en-US" altLang="ko-KR" sz="1600" dirty="0" err="1" smtClean="0"/>
              <a:t>ackNo</a:t>
            </a:r>
            <a:r>
              <a:rPr lang="en-US" altLang="ko-KR" sz="1600" dirty="0" smtClean="0"/>
              <a:t> = R) </a:t>
            </a:r>
            <a:r>
              <a:rPr lang="ko-KR" altLang="en-US" sz="1600" dirty="0" smtClean="0"/>
              <a:t>전송</a:t>
            </a:r>
            <a:endParaRPr lang="ko-KR" altLang="en-US" sz="1600" dirty="0"/>
          </a:p>
        </p:txBody>
      </p:sp>
      <p:sp>
        <p:nvSpPr>
          <p:cNvPr id="117" name="TextBox 116"/>
          <p:cNvSpPr txBox="1"/>
          <p:nvPr/>
        </p:nvSpPr>
        <p:spPr>
          <a:xfrm>
            <a:off x="10195034" y="46784"/>
            <a:ext cx="415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20142697 </a:t>
            </a:r>
            <a:r>
              <a:rPr lang="ko-KR" altLang="en-US" dirty="0" smtClean="0"/>
              <a:t>권민수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26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124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 민수</dc:creator>
  <cp:lastModifiedBy>권 민수</cp:lastModifiedBy>
  <cp:revision>3</cp:revision>
  <dcterms:created xsi:type="dcterms:W3CDTF">2019-04-08T06:57:11Z</dcterms:created>
  <dcterms:modified xsi:type="dcterms:W3CDTF">2019-04-08T07:11:56Z</dcterms:modified>
</cp:coreProperties>
</file>